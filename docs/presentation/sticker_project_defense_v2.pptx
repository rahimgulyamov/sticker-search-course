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8386b665054db9" /><Relationship Type="http://schemas.openxmlformats.org/officeDocument/2006/relationships/extended-properties" Target="/docProps/app.xml" Id="R8df90ef91cd24b68" /><Relationship Type="http://schemas.openxmlformats.org/officeDocument/2006/relationships/officeDocument" Target="/ppt/presentation.xml" Id="Rac1e5ad3af944910" /></Relationships>
</file>

<file path=ppt/presentation.xml><?xml version="1.0" encoding="utf-8"?>
<p:presentation xmlns:p="http://schemas.openxmlformats.org/presentationml/2006/main">
  <p:sldMasterIdLst>
    <p:sldMasterId xmlns:r="http://schemas.openxmlformats.org/officeDocument/2006/relationships" id="2147483648" r:id="R883c6850b714405f"/>
  </p:sldMasterIdLst>
  <p:notesMasterIdLst>
    <p:notesMasterId xmlns:r="http://schemas.openxmlformats.org/officeDocument/2006/relationships" r:id="R4b312a351cf64812"/>
  </p:notesMasterIdLst>
  <p:sldIdLst>
    <p:sldId xmlns:r="http://schemas.openxmlformats.org/officeDocument/2006/relationships" id="256" r:id="R892b5cdb6951486f"/>
    <p:sldId xmlns:r="http://schemas.openxmlformats.org/officeDocument/2006/relationships" id="257" r:id="R0c5a8cf02e184f0e"/>
    <p:sldId xmlns:r="http://schemas.openxmlformats.org/officeDocument/2006/relationships" id="258" r:id="R57dcd605bd0d450c"/>
    <p:sldId xmlns:r="http://schemas.openxmlformats.org/officeDocument/2006/relationships" id="259" r:id="R7301b666fdbe4930"/>
    <p:sldId xmlns:r="http://schemas.openxmlformats.org/officeDocument/2006/relationships" id="260" r:id="R552c0570b8cc465d"/>
    <p:sldId xmlns:r="http://schemas.openxmlformats.org/officeDocument/2006/relationships" id="261" r:id="Rae7cfacecb72489b"/>
    <p:sldId xmlns:r="http://schemas.openxmlformats.org/officeDocument/2006/relationships" id="262" r:id="Rc4cc8c5e0b824d15"/>
    <p:sldId xmlns:r="http://schemas.openxmlformats.org/officeDocument/2006/relationships" id="263" r:id="Rf3a0c63f9d6a4a1c"/>
    <p:sldId xmlns:r="http://schemas.openxmlformats.org/officeDocument/2006/relationships" id="264" r:id="R8388f98917294401"/>
    <p:sldId xmlns:r="http://schemas.openxmlformats.org/officeDocument/2006/relationships" id="265" r:id="R3af9fba9425a4cd3"/>
    <p:sldId xmlns:r="http://schemas.openxmlformats.org/officeDocument/2006/relationships" id="266" r:id="R7efd5161fc8a4acb"/>
    <p:sldId xmlns:r="http://schemas.openxmlformats.org/officeDocument/2006/relationships" id="267" r:id="R3573840546104921"/>
    <p:sldId xmlns:r="http://schemas.openxmlformats.org/officeDocument/2006/relationships" id="268" r:id="R528a5c03daeb4fe6"/>
    <p:sldId xmlns:r="http://schemas.openxmlformats.org/officeDocument/2006/relationships" id="269" r:id="R776c6be2e51c4364"/>
    <p:sldId xmlns:r="http://schemas.openxmlformats.org/officeDocument/2006/relationships" id="270" r:id="R3b3743f546a14b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5ee425c3eb4427" /><Relationship Type="http://schemas.openxmlformats.org/officeDocument/2006/relationships/slideMaster" Target="/ppt/slideMasters/slideMaster1.xml" Id="R883c6850b714405f" /><Relationship Type="http://schemas.openxmlformats.org/officeDocument/2006/relationships/notesMaster" Target="/ppt/notesMasters/notesMaster1.xml" Id="R4b312a351cf64812" /><Relationship Type="http://schemas.openxmlformats.org/officeDocument/2006/relationships/presProps" Target="/ppt/presProps.xml" Id="R20051282d0a947f9" /><Relationship Type="http://schemas.openxmlformats.org/officeDocument/2006/relationships/tableStyles" Target="/ppt/tableStyles.xml" Id="R74405b139c5f4311" /><Relationship Type="http://schemas.openxmlformats.org/officeDocument/2006/relationships/slide" Target="/ppt/slides/slide1.xml" Id="R892b5cdb6951486f" /><Relationship Type="http://schemas.openxmlformats.org/officeDocument/2006/relationships/slide" Target="/ppt/slides/slide2.xml" Id="R0c5a8cf02e184f0e" /><Relationship Type="http://schemas.openxmlformats.org/officeDocument/2006/relationships/slide" Target="/ppt/slides/slide3.xml" Id="R57dcd605bd0d450c" /><Relationship Type="http://schemas.openxmlformats.org/officeDocument/2006/relationships/slide" Target="/ppt/slides/slide4.xml" Id="R7301b666fdbe4930" /><Relationship Type="http://schemas.openxmlformats.org/officeDocument/2006/relationships/slide" Target="/ppt/slides/slide5.xml" Id="R552c0570b8cc465d" /><Relationship Type="http://schemas.openxmlformats.org/officeDocument/2006/relationships/slide" Target="/ppt/slides/slide6.xml" Id="Rae7cfacecb72489b" /><Relationship Type="http://schemas.openxmlformats.org/officeDocument/2006/relationships/slide" Target="/ppt/slides/slide7.xml" Id="Rc4cc8c5e0b824d15" /><Relationship Type="http://schemas.openxmlformats.org/officeDocument/2006/relationships/slide" Target="/ppt/slides/slide8.xml" Id="Rf3a0c63f9d6a4a1c" /><Relationship Type="http://schemas.openxmlformats.org/officeDocument/2006/relationships/slide" Target="/ppt/slides/slide9.xml" Id="R8388f98917294401" /><Relationship Type="http://schemas.openxmlformats.org/officeDocument/2006/relationships/slide" Target="/ppt/slides/slide10.xml" Id="R3af9fba9425a4cd3" /><Relationship Type="http://schemas.openxmlformats.org/officeDocument/2006/relationships/slide" Target="/ppt/slides/slide11.xml" Id="R7efd5161fc8a4acb" /><Relationship Type="http://schemas.openxmlformats.org/officeDocument/2006/relationships/slide" Target="/ppt/slides/slide12.xml" Id="R3573840546104921" /><Relationship Type="http://schemas.openxmlformats.org/officeDocument/2006/relationships/slide" Target="/ppt/slides/slide13.xml" Id="R528a5c03daeb4fe6" /><Relationship Type="http://schemas.openxmlformats.org/officeDocument/2006/relationships/slide" Target="/ppt/slides/slide14.xml" Id="R776c6be2e51c4364" /><Relationship Type="http://schemas.openxmlformats.org/officeDocument/2006/relationships/slide" Target="/ppt/slides/slide15.xml" Id="R3b3743f546a14b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c9bb6ddb304c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b9a56d5ece4fb8" /><Relationship Type="http://schemas.openxmlformats.org/officeDocument/2006/relationships/notesMaster" Target="/ppt/notesMasters/notesMaster1.xml" Id="Rc27052becbac4b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0cddb3984041f4" /><Relationship Type="http://schemas.openxmlformats.org/officeDocument/2006/relationships/notesMaster" Target="/ppt/notesMasters/notesMaster1.xml" Id="R09e41dda90e640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92b8d3242940e9" /><Relationship Type="http://schemas.openxmlformats.org/officeDocument/2006/relationships/notesMaster" Target="/ppt/notesMasters/notesMaster1.xml" Id="R3cc1a5449b5b46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ca9d58e3dd45ba" /><Relationship Type="http://schemas.openxmlformats.org/officeDocument/2006/relationships/notesMaster" Target="/ppt/notesMasters/notesMaster1.xml" Id="Ra03a3bf8e87947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1fad8a859d478d" /><Relationship Type="http://schemas.openxmlformats.org/officeDocument/2006/relationships/notesMaster" Target="/ppt/notesMasters/notesMaster1.xml" Id="R7dda7248a84f4e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bf786ce3e2486b" /><Relationship Type="http://schemas.openxmlformats.org/officeDocument/2006/relationships/notesMaster" Target="/ppt/notesMasters/notesMaster1.xml" Id="R9367bd5869a142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aefd6159d14c92" /><Relationship Type="http://schemas.openxmlformats.org/officeDocument/2006/relationships/notesMaster" Target="/ppt/notesMasters/notesMaster1.xml" Id="Rb03ea9f8d5f444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7ae7de957a4833" /><Relationship Type="http://schemas.openxmlformats.org/officeDocument/2006/relationships/notesMaster" Target="/ppt/notesMasters/notesMaster1.xml" Id="R6d00f472f1ef4d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da494c93ba4359" /><Relationship Type="http://schemas.openxmlformats.org/officeDocument/2006/relationships/notesMaster" Target="/ppt/notesMasters/notesMaster1.xml" Id="R4b9d82e4f6034f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dfb7625a844689" /><Relationship Type="http://schemas.openxmlformats.org/officeDocument/2006/relationships/notesMaster" Target="/ppt/notesMasters/notesMaster1.xml" Id="R8f31fc44be454a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cbf960d3a44852" /><Relationship Type="http://schemas.openxmlformats.org/officeDocument/2006/relationships/notesMaster" Target="/ppt/notesMasters/notesMaster1.xml" Id="Ra4adb175c65d4b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c9f67b78594e9f" /><Relationship Type="http://schemas.openxmlformats.org/officeDocument/2006/relationships/notesMaster" Target="/ppt/notesMasters/notesMaster1.xml" Id="Rdf0b13d90f014b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4f2d7d495c4f21" /><Relationship Type="http://schemas.openxmlformats.org/officeDocument/2006/relationships/notesMaster" Target="/ppt/notesMasters/notesMaster1.xml" Id="R0dc275bfe8224b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892c861d0d4a0f" /><Relationship Type="http://schemas.openxmlformats.org/officeDocument/2006/relationships/notesMaster" Target="/ppt/notesMasters/notesMaster1.xml" Id="R9247fdadde7346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c4b780edbd4f2c" /><Relationship Type="http://schemas.openxmlformats.org/officeDocument/2006/relationships/notesMaster" Target="/ppt/notesMasters/notesMaster1.xml" Id="R65f5f85a28fb42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 представляю систему подбора стикеров и открыток по текстовому запросу. Пользователь может найти изображение в готовом каталоге, а затем при необходимости создать новое. Основной результат проекта — полное дообучение SigLIP 2, которое улучшило поиск на английском и русском языках. Кроме поиска реализованы генерация изображения и отдельное удаление фона.</a:t>
            </a:r>
          </a:p>
          <a:p xmlns:a="http://schemas.openxmlformats.org/drawingml/2006/main">
            <a:r>
              <a:t/>
            </a:r>
          </a:p>
          <a:p xmlns:a="http://schemas.openxmlformats.org/drawingml/2006/main">
            <a:r>
              <a:t>ДЕЙСТВИЕ</a:t>
            </a:r>
          </a:p>
          <a:p xmlns:a="http://schemas.openxmlformats.org/drawingml/2006/main">
            <a:r>
              <a:t>Открыть титульный слайд. Не запускать демо до объяснения результатов.</a:t>
            </a:r>
          </a:p>
          <a:p xmlns:a="http://schemas.openxmlformats.org/drawingml/2006/main">
            <a:r>
              <a:t/>
            </a:r>
          </a:p>
          <a:p xmlns:a="http://schemas.openxmlformats.org/drawingml/2006/main">
            <a:r>
              <a:t>ИСТОЧНИКИ</a:t>
            </a:r>
          </a:p>
          <a:p xmlns:a="http://schemas.openxmlformats.org/drawingml/2006/main">
            <a:r>
              <a:t>Реальная генерация: final_results.zip, generation/example_02/attempt_00.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вход система получает свободное описание: например, грустный кот под дождём или открытка с поздравлением. На выходе показывает двенадцать изображений из каталога. Можно выбрать стикеры или открытки и скачать результат. Надписи важны для смысла, поэтому есть отдельная ветвь поиска по распознанному тексту. Если подходящей картинки пользователь не видит, он сам запускает генерацию. Автоматического порога отсутствия результата пока нет: косинусное сходство не является вероятностью релевантности.</a:t>
            </a:r>
          </a:p>
          <a:p xmlns:a="http://schemas.openxmlformats.org/drawingml/2006/main">
            <a:r>
              <a:t/>
            </a:r>
          </a:p>
          <a:p xmlns:a="http://schemas.openxmlformats.org/drawingml/2006/main">
            <a:r>
              <a:t>ДЕЙСТВИЕ</a:t>
            </a:r>
          </a:p>
          <a:p xmlns:a="http://schemas.openxmlformats.org/drawingml/2006/main">
            <a:r>
              <a:t>Показать различие поиска по каталогу и создания новой картинки.</a:t>
            </a:r>
          </a:p>
          <a:p xmlns:a="http://schemas.openxmlformats.org/drawingml/2006/main">
            <a:r>
              <a:t/>
            </a:r>
          </a:p>
          <a:p xmlns:a="http://schemas.openxmlformats.org/drawingml/2006/main">
            <a:r>
              <a:t>ИСТОЧНИКИ</a:t>
            </a:r>
          </a:p>
          <a:p xmlns:a="http://schemas.openxmlformats.org/drawingml/2006/main">
            <a:r>
              <a:t>Код app_siglip2.py, generation_ui.py и siglip/search.py.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объём каталога составляют тридцать тысяч стикеров из nyuuzyou. StickerQueries добавляет изображения с поисковыми запросами людей. Для открыток использованы сто изображений Synth-GCD и двести сорок шаблонных композиций с OpenMoji. В результате в каталоге тридцать тысяч пятьсот семьдесят четыре стикера и только триста сорок открыток. Это существенный дисбаланс. В метаданных сохранены источник и заявленная лицензия. Данные проверялись на читаемость, точные дубли и близкие изображения. Лицензия набора сама по себе не устраняет возможные ограничения на изображённых персонажей.</a:t>
            </a:r>
          </a:p>
          <a:p xmlns:a="http://schemas.openxmlformats.org/drawingml/2006/main">
            <a:r>
              <a:t/>
            </a:r>
          </a:p>
          <a:p xmlns:a="http://schemas.openxmlformats.org/drawingml/2006/main">
            <a:r>
              <a:t>ДЕЙСТВИЕ</a:t>
            </a:r>
          </a:p>
          <a:p xmlns:a="http://schemas.openxmlformats.org/drawingml/2006/main">
            <a:r>
              <a:t>Не говорить, что все 30 тысяч изображений имеют человеческие описания.</a:t>
            </a:r>
          </a:p>
          <a:p xmlns:a="http://schemas.openxmlformats.org/drawingml/2006/main">
            <a:r>
              <a:t/>
            </a:r>
          </a:p>
          <a:p xmlns:a="http://schemas.openxmlformats.org/drawingml/2006/main">
            <a:r>
              <a:t>ИСТОЧНИКИ</a:t>
            </a:r>
          </a:p>
          <a:p xmlns:a="http://schemas.openxmlformats.org/drawingml/2006/main">
            <a:r>
              <a:t>https://huggingface.co/datasets/nyuuzyou/stickers</a:t>
            </a:r>
          </a:p>
          <a:p xmlns:a="http://schemas.openxmlformats.org/drawingml/2006/main">
            <a:r>
              <a:t>https://huggingface.co/datasets/metchee/sticker-queries</a:t>
            </a:r>
          </a:p>
          <a:p xmlns:a="http://schemas.openxmlformats.org/drawingml/2006/main">
            <a:r>
              <a:t>https://huggingface.co/datasets/gauravs101/synthetic-greeting-cards</a:t>
            </a:r>
          </a:p>
          <a:p xmlns:a="http://schemas.openxmlformats.org/drawingml/2006/main">
            <a:r>
              <a:t>https://openmoji.org/</a:t>
            </a:r>
          </a:p>
          <a:p xmlns:a="http://schemas.openxmlformats.org/drawingml/2006/main">
            <a:r>
              <a:t>Состав: evidence/full_catalog/manifest.jsonl. Лицензии приводятся как заявленные источниками.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расширения обучения Qwen2.5-VL создал визуальные описания на двух языках и распознал надписи. Валидные записи получены для тридцати тысяч восьмисот семидесяти пяти изображений. Это автоматическая разметка, в ней остаются ошибки. Обучение использует только train: двадцать одну тысячу семьсот семьдесят шесть уникальных картинок. Остальные части нужны для выбора модели и проверки. Описания изображений дают сорок три тысячи пятьсот пятьдесят две обучающие пары, запросы людей и их переводы — ещё пять тысяч семьсот шестьдесят шесть. Итого сорок девять тысяч триста восемнадцать пар.</a:t>
            </a:r>
          </a:p>
          <a:p xmlns:a="http://schemas.openxmlformats.org/drawingml/2006/main">
            <a:r>
              <a:t/>
            </a:r>
          </a:p>
          <a:p xmlns:a="http://schemas.openxmlformats.org/drawingml/2006/main">
            <a:r>
              <a:t>ДЕЙСТВИЕ</a:t>
            </a:r>
          </a:p>
          <a:p xmlns:a="http://schemas.openxmlformats.org/drawingml/2006/main">
            <a:r>
              <a:t>Подчеркнуть: весь каталог участвует в поиске, но dev и test не участвуют в обучении.</a:t>
            </a:r>
          </a:p>
          <a:p xmlns:a="http://schemas.openxmlformats.org/drawingml/2006/main">
            <a:r>
              <a:t/>
            </a:r>
          </a:p>
          <a:p xmlns:a="http://schemas.openxmlformats.org/drawingml/2006/main">
            <a:r>
              <a:t>ИСТОЧНИКИ</a:t>
            </a:r>
          </a:p>
          <a:p xmlns:a="http://schemas.openxmlformats.org/drawingml/2006/main">
            <a:r>
              <a:t>https://huggingface.co/Qwen/Qwen2.5-VL-7B-Instruct</a:t>
            </a:r>
          </a:p>
          <a:p xmlns:a="http://schemas.openxmlformats.org/drawingml/2006/main">
            <a:r>
              <a:t>siglip2_test_results.zip, prepared/coverage.json; manifest.jsonl.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Основой стала SigLIP 2 с отдельными энкодерами изображения и текста. Оба возвращают векторы размерности тысяча сто пятьдесят два в общем пространстве. Для каталога векторы вычисляются заранее. При запросе нужно закодировать только текст и посчитать скалярные произведения с нормированными векторами картинок. При тридцати одной тысяче кандидатов используется точный поиск без приближённого индекса. Отдельный OCR-режим объединяет ранги визуального поиска и совпадений по надписям. Основные результаты дальше относятся к режиму без этой дополнительной ветви. Саму модель выбирали по качеству поиска по изображению.</a:t>
            </a:r>
          </a:p>
          <a:p xmlns:a="http://schemas.openxmlformats.org/drawingml/2006/main">
            <a:r>
              <a:t/>
            </a:r>
          </a:p>
          <a:p xmlns:a="http://schemas.openxmlformats.org/drawingml/2006/main">
            <a:r>
              <a:t>ДЕЙСТВИЕ</a:t>
            </a:r>
          </a:p>
          <a:p xmlns:a="http://schemas.openxmlformats.org/drawingml/2006/main">
            <a:r>
              <a:t>Если спросят про скорость, не переносить старый замер CLIP на SigLIP 2. Для SigLIP полноценного замера задержки нет.</a:t>
            </a:r>
          </a:p>
          <a:p xmlns:a="http://schemas.openxmlformats.org/drawingml/2006/main">
            <a:r>
              <a:t/>
            </a:r>
          </a:p>
          <a:p xmlns:a="http://schemas.openxmlformats.org/drawingml/2006/main">
            <a:r>
              <a:t>ИСТОЧНИКИ</a:t>
            </a:r>
          </a:p>
          <a:p xmlns:a="http://schemas.openxmlformats.org/drawingml/2006/main">
            <a:r>
              <a:t>https://huggingface.co/google/siglip2-so400m-patch14-384</a:t>
            </a:r>
          </a:p>
          <a:p xmlns:a="http://schemas.openxmlformats.org/drawingml/2006/main">
            <a:r>
              <a:t>sticker_search/siglip/search.py, 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отличие от первой версии с маленькими адаптерами здесь обучаются все параметры обеих башен: примерно один миллиард сто тридцать шесть миллионов. Использованы четыре A100 по восемьдесят гигабайт, глобальный батч сто двадцать восемь и AdamW с learning rate пять на десять в минус шестой. Лосс попарный сигмоидальный: правильные пары должны получать высокое сходство, отрицательные — низкое. Известные дополнительные положительные картинки учитываются как положительные. Неизвестные совпадения из одной группы исключаются из отрицательных. Негативы берутся из текущего общего батча всех GPU. Обучение длилось три эпохи, всего тысяча сто пятьдесят восемь шагов.</a:t>
            </a:r>
          </a:p>
          <a:p xmlns:a="http://schemas.openxmlformats.org/drawingml/2006/main">
            <a:r>
              <a:t/>
            </a:r>
          </a:p>
          <a:p xmlns:a="http://schemas.openxmlformats.org/drawingml/2006/main">
            <a:r>
              <a:t>ДЕЙСТВИЕ</a:t>
            </a:r>
          </a:p>
          <a:p xmlns:a="http://schemas.openxmlformats.org/drawingml/2006/main">
            <a:r>
              <a:t>При вопросе о деталях лосса перейти к резервному слайду 14.</a:t>
            </a:r>
          </a:p>
          <a:p xmlns:a="http://schemas.openxmlformats.org/drawingml/2006/main">
            <a:r>
              <a:t/>
            </a:r>
          </a:p>
          <a:p xmlns:a="http://schemas.openxmlformats.org/drawingml/2006/main">
            <a:r>
              <a:t>ИСТОЧНИКИ</a:t>
            </a:r>
          </a:p>
          <a:p xmlns:a="http://schemas.openxmlformats.org/drawingml/2006/main">
            <a:r>
              <a:t>https://arxiv.org/abs/2303.15343</a:t>
            </a:r>
          </a:p>
          <a:p xmlns:a="http://schemas.openxmlformats.org/drawingml/2006/main">
            <a:r>
              <a:t>siglip2_test_results.zip, training_data.json, 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Модель выбирается по среднему NDCG@5 между английским и русским на dev. Эта метрика учитывает не только попадание правильной картинки, но и её позицию в первой пятёрке. Hit@10 показывает долю запросов, где известный правильный ответ есть в первой десятке. На тесте шестьсот восемьдесят запросов на каждом языке, но всего восемьдесят шесть уникальных целевых изображений. Поэтому неопределённость оценивается по группам картинок, а не по независимым запросам. Русские запросы являются переводами. Это оценка поиска размеченного ответа, а не полная оценка всех подходящих результатов.</a:t>
            </a:r>
          </a:p>
          <a:p xmlns:a="http://schemas.openxmlformats.org/drawingml/2006/main">
            <a:r>
              <a:t/>
            </a:r>
          </a:p>
          <a:p xmlns:a="http://schemas.openxmlformats.org/drawingml/2006/main">
            <a:r>
              <a:t>ДЕЙСТВИЕ</a:t>
            </a:r>
          </a:p>
          <a:p xmlns:a="http://schemas.openxmlformats.org/drawingml/2006/main">
            <a:r>
              <a:t>Оговорить, что этот же test ранее использовался для старого CLIP. Эпоху SigLIP выбирали только по dev, но test нельзя назвать полностью новым слепым набором.</a:t>
            </a:r>
          </a:p>
          <a:p xmlns:a="http://schemas.openxmlformats.org/drawingml/2006/main">
            <a:r>
              <a:t/>
            </a:r>
          </a:p>
          <a:p xmlns:a="http://schemas.openxmlformats.org/drawingml/2006/main">
            <a:r>
              <a:t>ИСТОЧНИКИ</a:t>
            </a:r>
          </a:p>
          <a:p xmlns:a="http://schemas.openxmlformats.org/drawingml/2006/main">
            <a:r>
              <a:t>siglip2_test_results.zip, queries.jsonl, selected_test/cases.jsonl; код 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Большая часть улучшения появляется уже после первой эпохи. Максимум среднего NDCG@5 на dev достигается на второй: примерно ноль целых восемьдесят семь тысячных. На третьей эпохе обучающий лосс продолжает снижаться, а качество dev немного падает. Поэтому сохранена вторая эпоха. Это показывает, почему нельзя выбирать модель только по train loss и почему просто увеличить число эпох сейчас недостаточно. Исходная модель также участвовала в выборе как нулевая эпоха.</a:t>
            </a:r>
          </a:p>
          <a:p xmlns:a="http://schemas.openxmlformats.org/drawingml/2006/main">
            <a:r>
              <a:t/>
            </a:r>
          </a:p>
          <a:p xmlns:a="http://schemas.openxmlformats.org/drawingml/2006/main">
            <a:r>
              <a:t>ДЕЙСТВИЕ</a:t>
            </a:r>
          </a:p>
          <a:p xmlns:a="http://schemas.openxmlformats.org/drawingml/2006/main">
            <a:r>
              <a:t>Показать точку второй эпохи и таблицу loss справа.</a:t>
            </a:r>
          </a:p>
          <a:p xmlns:a="http://schemas.openxmlformats.org/drawingml/2006/main">
            <a:r>
              <a:t/>
            </a:r>
          </a:p>
          <a:p xmlns:a="http://schemas.openxmlformats.org/drawingml/2006/main">
            <a:r>
              <a:t>ИСТОЧНИКИ</a:t>
            </a:r>
          </a:p>
          <a:p xmlns:a="http://schemas.openxmlformats.org/drawingml/2006/main">
            <a:r>
              <a:t>siglip2_test_results.zip, history.jsonl, 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тесте NDCG@5 для английского вырос с 0,0495 до 0,0923. Для русского — с 0,0149 до 0,0658. Это рост примерно в 1,86 раза для английского и в 4,43 раза для русского. Hit@10 на русском вырос с девятнадцати до восьмидесяти пяти успешных запросов из шестисот восьмидесяти. Парный bootstrap по группам дал положительные интервалы прироста на обоих языках. При этом абсолютное качество остаётся умеренным: на русском размеченная картинка находится в десятке в одном случае из восьми.</a:t>
            </a:r>
          </a:p>
          <a:p xmlns:a="http://schemas.openxmlformats.org/drawingml/2006/main">
            <a:r>
              <a:t/>
            </a:r>
          </a:p>
          <a:p xmlns:a="http://schemas.openxmlformats.org/drawingml/2006/main">
            <a:r>
              <a:t>ДЕЙСТВИЕ</a:t>
            </a:r>
          </a:p>
          <a:p xmlns:a="http://schemas.openxmlformats.org/drawingml/2006/main">
            <a:r>
              <a:t>Читать округлённые значения со слайда. Не называть NDCG процентом точности.</a:t>
            </a:r>
          </a:p>
          <a:p xmlns:a="http://schemas.openxmlformats.org/drawingml/2006/main">
            <a:r>
              <a:t/>
            </a:r>
          </a:p>
          <a:p xmlns:a="http://schemas.openxmlformats.org/drawingml/2006/main">
            <a:r>
              <a:t>ИСТОЧНИКИ</a:t>
            </a:r>
          </a:p>
          <a:p xmlns:a="http://schemas.openxmlformats.org/drawingml/2006/main">
            <a:r>
              <a:t>siglip2_test_results.zip, baseline_test/metrics.json и selected_test/metrics.json. Парный bootstrap: 10 000 повторов, seed 42, 86 групп. EN Δ [0.0116; 0.0769], RU Δ [0.0267; 0.0786].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два специально выбранных примера с dev. Для запроса square emoji sleepy исходная модель ставила первой открытку с пожеланием спокойной ночи. После обучения на первом месте оказался нужный сонный смайлик. В другом примере, lying on mochi, модель после обучения выбирает лежащее животное, но теряет важный объект — моти. Правильная картинка уходит из первой пятёрки. Ошибки связаны с деталями, неоднозначными запросами и шумом описаний. Кроме того, в разметке обычно указан только один ответ, хотя другие картинки тоже могут подходить. Неполнота разметки объясняет часть ошибок, но не все.</a:t>
            </a:r>
          </a:p>
          <a:p xmlns:a="http://schemas.openxmlformats.org/drawingml/2006/main">
            <a:r>
              <a:t/>
            </a:r>
          </a:p>
          <a:p xmlns:a="http://schemas.openxmlformats.org/drawingml/2006/main">
            <a:r>
              <a:t>ДЕЙСТВИЕ</a:t>
            </a:r>
          </a:p>
          <a:p xmlns:a="http://schemas.openxmlformats.org/drawingml/2006/main">
            <a:r>
              <a:t>Это примеры dev, не выдачи test. Не представлять их как случайную или независимую человеческую оценку.</a:t>
            </a:r>
          </a:p>
          <a:p xmlns:a="http://schemas.openxmlformats.org/drawingml/2006/main">
            <a:r>
              <a:t/>
            </a:r>
          </a:p>
          <a:p xmlns:a="http://schemas.openxmlformats.org/drawingml/2006/main">
            <a:r>
              <a:t>ИСТОЧНИКИ</a:t>
            </a:r>
          </a:p>
          <a:p xmlns:a="http://schemas.openxmlformats.org/drawingml/2006/main">
            <a:r>
              <a:t>siglip2_test_results.zip, review_dev.html и evaluations/epoch_000, epoch_002/cases.jsonl. Примеры выбраны для разбора, не случайная выборка.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Генерация и удаление фона работают как два независимых шага. Qwen переводит русский запрос, FLUX.1-schnell создаёт исходное изображение за четыре шага. Затем отдельная функция запускает U²-Net через rembg на CPU и сохраняет PNG с прозрачностью. На слайде реальный сохранённый запуск с роботом. Видно, что удаление фона местами захватывает светлые части самого объекта. Поэтому исходник сохраняется и его можно скачать или повторно обработать без новой генерации. Эти модели я не дообучал. До разделения интерфейса выполнены пять реальных запусков полного пайплайна. Новые кнопки проверены программно с подменой инференса.</a:t>
            </a:r>
          </a:p>
          <a:p xmlns:a="http://schemas.openxmlformats.org/drawingml/2006/main">
            <a:r>
              <a:t/>
            </a:r>
          </a:p>
          <a:p xmlns:a="http://schemas.openxmlformats.org/drawingml/2006/main">
            <a:r>
              <a:t>ДЕЙСТВИЕ</a:t>
            </a:r>
          </a:p>
          <a:p xmlns:a="http://schemas.openxmlformats.org/drawingml/2006/main">
            <a:r>
              <a:t>Если на поде ещё не проверены новые кнопки, не утверждать обратное. Уточнить, что картинки получены реальным прежним запуском с теми же моделями.</a:t>
            </a:r>
          </a:p>
          <a:p xmlns:a="http://schemas.openxmlformats.org/drawingml/2006/main">
            <a:r>
              <a:t/>
            </a:r>
          </a:p>
          <a:p xmlns:a="http://schemas.openxmlformats.org/drawingml/2006/main">
            <a:r>
              <a:t>ИСТОЧНИКИ</a:t>
            </a:r>
          </a:p>
          <a:p xmlns:a="http://schemas.openxmlformats.org/drawingml/2006/main">
            <a:r>
              <a:t>https://huggingface.co/black-forest-labs/FLUX.1-schnell</a:t>
            </a:r>
          </a:p>
          <a:p xmlns:a="http://schemas.openxmlformats.org/drawingml/2006/main">
            <a:r>
              <a:t>https://github.com/danielgatis/rembg</a:t>
            </a:r>
          </a:p>
          <a:p xmlns:a="http://schemas.openxmlformats.org/drawingml/2006/main">
            <a:r>
              <a:t>Реальная генерация: final_results.zip, generation/example_04/attempt_00. Изображения относятся к прогону до разделения UI, новые функции используют те же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Сейчас покажу приложение. Сначала ввожу новый русский запрос и смотрю выдачу выбранной модели. Затем включаю поиск по надписям и показываю, что это отдельный режим. После этого генерирую новую картинку, сохраняю исходник и отдельно удаляю фон. Основной подтверждённый результат проекта — прирост поиска после полного дообучения. Следующий приоритет — независимая разметка нескольких подходящих ответов для новых русских запросов и отдельная оценка открыток. Также нужны проверка OCR-ветви, замер задержки SigLIP и более качественное удаление фона.</a:t>
            </a:r>
          </a:p>
          <a:p xmlns:a="http://schemas.openxmlformats.org/drawingml/2006/main">
            <a:r>
              <a:t/>
            </a:r>
          </a:p>
          <a:p xmlns:a="http://schemas.openxmlformats.org/drawingml/2006/main">
            <a:r>
              <a:t>ДЕЙСТВИЕ</a:t>
            </a:r>
          </a:p>
          <a:p xmlns:a="http://schemas.openxmlformats.org/drawingml/2006/main">
            <a:r>
              <a:t>Демо: 1) запрос «грустный кот под дождём», selected, OCR выключен; 2) фильтр «Открытки» и запрос «с днём рождения», при желании OCR; 3) «весёлый кот с чашкой кофе», кнопка генерации; 4) отдельно удалить фон и скачать PNG. Если GPU-запуск задерживается, показать сохранённые original.png и sticker.png, явно назвав их результатами предыдущего запуска.</a:t>
            </a:r>
          </a:p>
          <a:p xmlns:a="http://schemas.openxmlformats.org/drawingml/2006/main">
            <a:r>
              <a:t/>
            </a:r>
          </a:p>
          <a:p xmlns:a="http://schemas.openxmlformats.org/drawingml/2006/main">
            <a:r>
              <a:t>ИСТОЧНИКИ</a:t>
            </a:r>
          </a:p>
          <a:p xmlns:a="http://schemas.openxmlformats.org/drawingml/2006/main">
            <a:r>
              <a:t>Текущее приложение app_siglip2.py, generation_ui.py. Независимая человеческая оценка пока не проведена.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первой версии использовались замороженные CLIP ViT-B/32 и мультиязычный текстовый энкодер, а обучались только небольшие адаптеры. У них было гораздо меньше уникальных целевых изображений с поисковой разметкой — четыреста пять. Улучшение на русском dev не перенеслось на test. В новой версии одновременно изменились базовая модель, масштаб обучения и обучающие данные. Поэтому сравнение с адаптером не изолирует вклад каждого изменения. Более чистое сравнение — исходная и дообученная SigLIP 2 на одинаковом тесте.</a:t>
            </a:r>
          </a:p>
          <a:p xmlns:a="http://schemas.openxmlformats.org/drawingml/2006/main">
            <a:r>
              <a:t/>
            </a:r>
          </a:p>
          <a:p xmlns:a="http://schemas.openxmlformats.org/drawingml/2006/main">
            <a:r>
              <a:t>ДЕЙСТВИЕ</a:t>
            </a:r>
          </a:p>
          <a:p xmlns:a="http://schemas.openxmlformats.org/drawingml/2006/main">
            <a:r>
              <a:t>Резервный слайд для вопроса «что было до SigLIP и почему поменяли подход».</a:t>
            </a:r>
          </a:p>
          <a:p xmlns:a="http://schemas.openxmlformats.org/drawingml/2006/main">
            <a:r>
              <a:t/>
            </a:r>
          </a:p>
          <a:p xmlns:a="http://schemas.openxmlformats.org/drawingml/2006/main">
            <a:r>
              <a:t>ИСТОЧНИКИ</a:t>
            </a:r>
          </a:p>
          <a:p xmlns:a="http://schemas.openxmlformats.org/drawingml/2006/main">
            <a:r>
              <a:t>final_results.zip, test_en/metrics.json, test_ru/metrics.json; siglip2_test_results.zip. Общий test уже использовался ранее.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Логит пары равен скалярному произведению нормированных векторов, умноженному на обучаемый масштаб, плюс обучаемое смещение. Для положительной пары используется softplus от отрицательного логита, для отрицательной — softplus от положительного. Веса задаются по источнику: один для исходных человеческих запросов, ноль целых семь десятых для переводов и половина для автоматических описаний. Эти веса фиксированы и отдельной абляцией не обоснованы. Повторяющиеся картинки в батче делят вес одного столбца, чтобы не усиливать одну картинку из-за повторов. All-gather векторов картинок сохраняет градиенты.</a:t>
            </a:r>
          </a:p>
          <a:p xmlns:a="http://schemas.openxmlformats.org/drawingml/2006/main">
            <a:r>
              <a:t/>
            </a:r>
          </a:p>
          <a:p xmlns:a="http://schemas.openxmlformats.org/drawingml/2006/main">
            <a:r>
              <a:t>ДЕЙСТВИЕ</a:t>
            </a:r>
          </a:p>
          <a:p xmlns:a="http://schemas.openxmlformats.org/drawingml/2006/main">
            <a:r>
              <a:t>Резервный слайд. Полная реализация: sticker_search/siglip/model.py, класс SiglipPairLoss.</a:t>
            </a:r>
          </a:p>
          <a:p xmlns:a="http://schemas.openxmlformats.org/drawingml/2006/main">
            <a:r>
              <a:t/>
            </a:r>
          </a:p>
          <a:p xmlns:a="http://schemas.openxmlformats.org/drawingml/2006/main">
            <a:r>
              <a:t>ИСТОЧНИКИ</a:t>
            </a:r>
          </a:p>
          <a:p xmlns:a="http://schemas.openxmlformats.org/drawingml/2006/main">
            <a:r>
              <a:t>https://arxiv.org/abs/2303.15343</a:t>
            </a:r>
          </a:p>
          <a:p xmlns:a="http://schemas.openxmlformats.org/drawingml/2006/main">
            <a:r>
              <a:t>sticker_search/siglip/model.py; configs/siglip2_full.json.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проекте зафиксированы версии библиотек, ревизии моделей, seed и хеши данных. Отдельные команды отвечают за подготовку, обучение, оценку, поиск и генерацию. На поде нет интернета: веса и данные перенесены через YT. Источники данных и моделей приведены здесь и в заметках. Внешнюю ссылку на репозиторий нужно добавить в ЛМС после публикации кода. Сам PDF отчёта предыдущей версии ещё требует обновления с результатами SigLIP 2.</a:t>
            </a:r>
          </a:p>
          <a:p xmlns:a="http://schemas.openxmlformats.org/drawingml/2006/main">
            <a:r>
              <a:t/>
            </a:r>
          </a:p>
          <a:p xmlns:a="http://schemas.openxmlformats.org/drawingml/2006/main">
            <a:r>
              <a:t>ДЕЙСТВИЕ</a:t>
            </a:r>
          </a:p>
          <a:p xmlns:a="http://schemas.openxmlformats.org/drawingml/2006/main">
            <a:r>
              <a:t>Резервный слайд. Последние два предложения — организационная заметка для подготовки, не обязательная часть устного выступления.</a:t>
            </a:r>
          </a:p>
          <a:p xmlns:a="http://schemas.openxmlformats.org/drawingml/2006/main">
            <a:r>
              <a:t/>
            </a:r>
          </a:p>
          <a:p xmlns:a="http://schemas.openxmlformats.org/drawingml/2006/main">
            <a:r>
              <a:t>ИСТОЧНИКИ</a:t>
            </a:r>
          </a:p>
          <a:p xmlns:a="http://schemas.openxmlformats.org/drawingml/2006/main">
            <a:r>
              <a:t>https://huggingface.co/google/siglip2-so400m-patch14-384</a:t>
            </a:r>
          </a:p>
          <a:p xmlns:a="http://schemas.openxmlformats.org/drawingml/2006/main">
            <a:r>
              <a:t>https://arxiv.org/abs/2303.15343</a:t>
            </a:r>
          </a:p>
          <a:p xmlns:a="http://schemas.openxmlformats.org/drawingml/2006/main">
            <a:r>
              <a:t>https://huggingface.co/datasets/nyuuzyou/stickers</a:t>
            </a:r>
          </a:p>
          <a:p xmlns:a="http://schemas.openxmlformats.org/drawingml/2006/main">
            <a:r>
              <a:t>https://huggingface.co/datasets/metchee/sticker-queries</a:t>
            </a:r>
          </a:p>
          <a:p xmlns:a="http://schemas.openxmlformats.org/drawingml/2006/main">
            <a:r>
              <a:t>https://huggingface.co/datasets/gauravs101/synthetic-greeting-cards</a:t>
            </a:r>
          </a:p>
          <a:p xmlns:a="http://schemas.openxmlformats.org/drawingml/2006/main">
            <a:r>
              <a:t>https://openmoji.org/</a:t>
            </a:r>
          </a:p>
          <a:p xmlns:a="http://schemas.openxmlformats.org/drawingml/2006/main">
            <a:r>
              <a:t>https://huggingface.co/Qwen/Qwen2.5-VL-7B-Instruct</a:t>
            </a:r>
          </a:p>
          <a:p xmlns:a="http://schemas.openxmlformats.org/drawingml/2006/main">
            <a:r>
              <a:t>https://huggingface.co/black-forest-labs/FLUX.1-schnell</a:t>
            </a:r>
          </a:p>
          <a:p xmlns:a="http://schemas.openxmlformats.org/drawingml/2006/main">
            <a:r>
              <a:t>https://github.com/danielgatis/rembg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776110e60f4e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e4277318f54aac" /><Relationship Type="http://schemas.openxmlformats.org/officeDocument/2006/relationships/slideLayout" Target="/ppt/slideLayouts/slideLayout1.xml" Id="Rc133d91330134d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33d91330134d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47bcfbb86045a5" /><Relationship Type="http://schemas.openxmlformats.org/officeDocument/2006/relationships/image" Target="/ppt/media/image.png" Id="R6ae5e2bd699547d6" /><Relationship Type="http://schemas.openxmlformats.org/officeDocument/2006/relationships/notesSlide" Target="/ppt/notesSlides/notesSlide1.xml" Id="Rf1af26e9397441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b9f55b73fa4e62" /><Relationship Type="http://schemas.openxmlformats.org/officeDocument/2006/relationships/notesSlide" Target="/ppt/notesSlides/notesSlide2.xml" Id="Rff652c593ba14a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afdebb9c8c4c86" /><Relationship Type="http://schemas.openxmlformats.org/officeDocument/2006/relationships/notesSlide" Target="/ppt/notesSlides/notesSlide3.xml" Id="R5a0c560db32647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934655878f4911" /><Relationship Type="http://schemas.openxmlformats.org/officeDocument/2006/relationships/notesSlide" Target="/ppt/notesSlides/notesSlide4.xml" Id="R6d125a3b869649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49cfb9f4d420f" /><Relationship Type="http://schemas.openxmlformats.org/officeDocument/2006/relationships/notesSlide" Target="/ppt/notesSlides/notesSlide5.xml" Id="Rd61a7931aebc4f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adb7cc37bc48aa" /><Relationship Type="http://schemas.openxmlformats.org/officeDocument/2006/relationships/notesSlide" Target="/ppt/notesSlides/notesSlide6.xml" Id="R08b5a5c89f264a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7786427d43444a" /><Relationship Type="http://schemas.openxmlformats.org/officeDocument/2006/relationships/notesSlide" Target="/ppt/notesSlides/notesSlide7.xml" Id="Rb57a7e8d60a245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dfb5d926b94e4c" /><Relationship Type="http://schemas.openxmlformats.org/officeDocument/2006/relationships/chart" Target="/ppt/slides/charts/chart1.xml" Id="R97c0362cd8824efb" /><Relationship Type="http://schemas.openxmlformats.org/officeDocument/2006/relationships/notesSlide" Target="/ppt/notesSlides/notesSlide8.xml" Id="R9742e3c64c5140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8712d688b64492" /><Relationship Type="http://schemas.openxmlformats.org/officeDocument/2006/relationships/chart" Target="/ppt/slides/charts/chart2.xml" Id="R098eeee9895346eb" /><Relationship Type="http://schemas.openxmlformats.org/officeDocument/2006/relationships/notesSlide" Target="/ppt/notesSlides/notesSlide9.xml" Id="Rfe2c40a77d704c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3b0d5e0e7b45d6" /><Relationship Type="http://schemas.openxmlformats.org/officeDocument/2006/relationships/image" Target="/ppt/media/image.jpeg" Id="R5bb5a7292732434a" /><Relationship Type="http://schemas.openxmlformats.org/officeDocument/2006/relationships/image" Target="/ppt/media/image2.jpeg" Id="R70a44ce393ee456e" /><Relationship Type="http://schemas.openxmlformats.org/officeDocument/2006/relationships/image" Target="/ppt/media/image3.jpeg" Id="R8adc6100cbc64e3a" /><Relationship Type="http://schemas.openxmlformats.org/officeDocument/2006/relationships/image" Target="/ppt/media/image4.jpeg" Id="Ra1f82eed748b440c" /><Relationship Type="http://schemas.openxmlformats.org/officeDocument/2006/relationships/notesSlide" Target="/ppt/notesSlides/notesSlide10.xml" Id="R9857d873a42d4d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7c4f8d9178457a" /><Relationship Type="http://schemas.openxmlformats.org/officeDocument/2006/relationships/image" Target="/ppt/media/image2.png" Id="R14d235f7bbe043c8" /><Relationship Type="http://schemas.openxmlformats.org/officeDocument/2006/relationships/image" Target="/ppt/media/image3.png" Id="Rf609c1b74ecd4814" /><Relationship Type="http://schemas.openxmlformats.org/officeDocument/2006/relationships/notesSlide" Target="/ppt/notesSlides/notesSlide11.xml" Id="R03cdf76e1c2b43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c144c9f7a644b6" /><Relationship Type="http://schemas.openxmlformats.org/officeDocument/2006/relationships/notesSlide" Target="/ppt/notesSlides/notesSlide12.xml" Id="R85b1cdfdcaa44e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ebca9d6f2f4652" /><Relationship Type="http://schemas.openxmlformats.org/officeDocument/2006/relationships/notesSlide" Target="/ppt/notesSlides/notesSlide13.xml" Id="R7f81c828926743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69e111b25447f1" /><Relationship Type="http://schemas.openxmlformats.org/officeDocument/2006/relationships/notesSlide" Target="/ppt/notesSlides/notesSlide14.xml" Id="R2c1986ce159d44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0df22e744d41f5" /><Relationship Type="http://schemas.openxmlformats.org/officeDocument/2006/relationships/notesSlide" Target="/ppt/notesSlides/notesSlide15.xml" Id="R50ab031919e243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Среднее EN / RU NDCG@5</c:v>
          </c:tx>
          <c:spPr>
            <a:ln xmlns:a="http://schemas.openxmlformats.org/drawingml/2006/main" w="38100">
              <a:solidFill>
                <a:srgbClr val="6F4AD1"/>
              </a:solidFill>
            </a:ln>
          </c:spPr>
          <c:marker>
            <c:symbol val="circle"/>
            <c:size val="8"/>
            <c:spPr>
              <a:solidFill xmlns:a="http://schemas.openxmlformats.org/drawingml/2006/main">
                <a:srgbClr val="6F4AD1"/>
              </a:solidFill>
            </c:spPr>
          </c:marker>
          <c:cat>
            <c:strRef>
              <c:f>'Chart Data'!$A$2:$A$5</c:f>
              <c:strCache>
                <c:ptCount val="4"/>
                <c:pt idx="0">
                  <c:v>До обучения</c:v>
                </c:pt>
                <c:pt idx="1">
                  <c:v>Эпоха 1</c:v>
                </c:pt>
                <c:pt idx="2">
                  <c:v>Эпоха 2</c:v>
                </c:pt>
                <c:pt idx="3">
                  <c:v>Эпоха 3</c:v>
                </c:pt>
              </c:strCache>
            </c:strRef>
          </c:cat>
          <c:val>
            <c:numRef>
              <c:f>'Chart Data'!$B$2:$B$5</c:f>
              <c:numCache>
                <c:formatCode>0.0000</c:formatCode>
                <c:ptCount val="4"/>
                <c:pt idx="0">
                  <c:v>0.0271</c:v>
                </c:pt>
                <c:pt idx="1">
                  <c:v>0.0859</c:v>
                </c:pt>
                <c:pt idx="2">
                  <c:v>0.0869</c:v>
                </c:pt>
                <c:pt idx="3">
                  <c:v>0.0836</c:v>
                </c:pt>
              </c:numCache>
            </c:numRef>
          </c:val>
          <c:smooth val="0"/>
        </c:ser>
        <c:dLbls>
          <c:txPr>
            <a:bodyPr xmlns:a="http://schemas.openxmlformats.org/drawingml/2006/main" anchorCtr="1"/>
            <a:lstStyle xmlns:a="http://schemas.openxmlformats.org/drawingml/2006/main"/>
            <a:p xmlns:a="http://schemas.openxmlformats.org/drawingml/2006/main">
              <a:pPr>
                <a:defRPr sz="1650" b="1">
                  <a:solidFill>
                    <a:srgbClr val="6F4AD1"/>
                  </a:solidFill>
                  <a:latin typeface="DejaVu Sans"/>
                  <a:ea typeface="DejaVu Sans"/>
                  <a:cs typeface="DejaVu San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AD1DA"/>
            </a:solidFill>
          </a:ln>
        </c:spPr>
        <c:txPr>
          <a:bodyPr xmlns:a="http://schemas.openxmlformats.org/drawingml/2006/main" anchorCtr="1"/>
          <a:lstStyle xmlns:a="http://schemas.openxmlformats.org/drawingml/2006/main"/>
          <a:p xmlns:a="http://schemas.openxmlformats.org/drawingml/2006/main">
            <a:pPr>
              <a:defRPr sz="1725">
                <a:solidFill>
                  <a:srgbClr val="172535"/>
                </a:solidFill>
                <a:latin typeface="DejaVu Sans"/>
                <a:ea typeface="DejaVu Sans"/>
                <a:cs typeface="DejaVu Sans"/>
              </a:defRPr>
            </a:pPr>
          </a:p>
        </c:txPr>
        <c:crossAx val="48672768"/>
      </c:catAx>
      <c:valAx>
        <c:axId val="48672768"/>
        <c:scaling>
          <c:orientation val="minMax"/>
          <c:max val="0.1"/>
          <c:min val="0"/>
        </c:scaling>
        <c:delete val="0"/>
        <c:axPos val="l"/>
        <c:majorGridlines>
          <c:spPr>
            <a:ln xmlns:a="http://schemas.openxmlformats.org/drawingml/2006/main" w="9525">
              <a:solidFill>
                <a:srgbClr val="E1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46273"/>
                </a:solidFill>
                <a:latin typeface="DejaVu Sans"/>
                <a:ea typeface="DejaVu Sans"/>
                <a:cs typeface="DejaVu Sans"/>
              </a:defRPr>
            </a:pPr>
          </a:p>
        </c:txPr>
        <c:crossAx val="48650112"/>
        <c:crossBetween val="between"/>
        <c:majorUnit val="0.025"/>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Исходная</c:v>
          </c:tx>
          <c:spPr>
            <a:solidFill xmlns:a="http://schemas.openxmlformats.org/drawingml/2006/main">
              <a:srgbClr val="A2ABB5"/>
            </a:solidFill>
          </c:spPr>
          <c:cat>
            <c:strRef>
              <c:f>'Chart Data'!$A$2:$A$3</c:f>
              <c:strCache>
                <c:ptCount val="2"/>
                <c:pt idx="0">
                  <c:v>Английский</c:v>
                </c:pt>
                <c:pt idx="1">
                  <c:v>Русский</c:v>
                </c:pt>
              </c:strCache>
            </c:strRef>
          </c:cat>
          <c:val>
            <c:numRef>
              <c:f>'Chart Data'!$B$2:$B$3</c:f>
              <c:numCache>
                <c:formatCode>0.0000</c:formatCode>
                <c:ptCount val="2"/>
                <c:pt idx="0">
                  <c:v>0.0495</c:v>
                </c:pt>
                <c:pt idx="1">
                  <c:v>0.0149</c:v>
                </c:pt>
              </c:numCache>
            </c:numRef>
          </c:val>
        </c:ser>
        <c:ser>
          <c:idx val="1"/>
          <c:order val="1"/>
          <c:tx>
            <c:v>Эпоха 2</c:v>
          </c:tx>
          <c:spPr>
            <a:solidFill xmlns:a="http://schemas.openxmlformats.org/drawingml/2006/main">
              <a:srgbClr val="6F4AD1"/>
            </a:solidFill>
          </c:spPr>
          <c:cat>
            <c:strRef>
              <c:f>'Chart Data'!$C$2:$C$3</c:f>
              <c:strCache>
                <c:ptCount val="2"/>
                <c:pt idx="0">
                  <c:v>Английский</c:v>
                </c:pt>
                <c:pt idx="1">
                  <c:v>Русский</c:v>
                </c:pt>
              </c:strCache>
            </c:strRef>
          </c:cat>
          <c:val>
            <c:numRef>
              <c:f>'Chart Data'!$D$2:$D$3</c:f>
              <c:numCache>
                <c:formatCode>0.0000</c:formatCode>
                <c:ptCount val="2"/>
                <c:pt idx="0">
                  <c:v>0.0923</c:v>
                </c:pt>
                <c:pt idx="1">
                  <c:v>0.0658</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535"/>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535"/>
                </a:solidFill>
                <a:latin typeface="DejaVu Sans"/>
                <a:ea typeface="DejaVu Sans"/>
                <a:cs typeface="DejaVu Sans"/>
              </a:defRPr>
            </a:pPr>
          </a:p>
        </c:txPr>
        <c:crossAx val="48672768"/>
      </c:catAx>
      <c:valAx>
        <c:axId val="48672768"/>
        <c:scaling>
          <c:orientation val="minMax"/>
          <c:max val="0.12"/>
          <c:min val="0"/>
        </c:scaling>
        <c:delete val="0"/>
        <c:axPos val="l"/>
        <c:majorGridlines>
          <c:spPr>
            <a:ln xmlns:a="http://schemas.openxmlformats.org/drawingml/2006/main" w="9525">
              <a:solidFill>
                <a:srgbClr val="E1E5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273"/>
                </a:solidFill>
                <a:latin typeface="DejaVu Sans"/>
                <a:ea typeface="DejaVu Sans"/>
                <a:cs typeface="DejaVu Sans"/>
              </a:defRPr>
            </a:pPr>
          </a:p>
        </c:txPr>
        <c:crossAx val="48650112"/>
        <c:crossBetween val="between"/>
        <c:majorUnit val="0.03"/>
      </c:valAx>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535"/>
              </a:solidFill>
              <a:latin typeface="DejaVu Sans"/>
              <a:ea typeface="DejaVu Sans"/>
              <a:cs typeface="DejaVu San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943103-37EC-4848-8B22-0E2146B884EC}"/>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01</a:t>
            </a:r>
          </a:p>
        </p:txBody>
      </p:sp>
      <p:sp>
        <p:nvSpPr>
          <p:cNvPr id="2" name="">
            <a:extLst xmlns:a="http://schemas.openxmlformats.org/drawingml/2006/main">
              <a:ext uri="{FF2B5EF4-FFF2-40B4-BE49-F238E27FC236}">
                <a16:creationId xmlns:a16="http://schemas.microsoft.com/office/drawing/2014/main" id="{97C70691-3F7A-41A6-8A3A-3FF2DA612222}"/>
              </a:ext>
            </a:extLst>
          </p:cNvPr>
          <p:cNvSpPr>
            <a:spLocks xmlns:a="http://schemas.openxmlformats.org/drawingml/2006/main" noGrp="1"/>
          </p:cNvSpPr>
          <p:nvPr/>
        </p:nvSpPr>
        <p:spPr>
          <a:xfrm xmlns:a="http://schemas.openxmlformats.org/drawingml/2006/main">
            <a:off x="609600" y="1495425"/>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172535"/>
                </a:solidFill>
                <a:latin typeface="DejaVu Sans"/>
                <a:ea typeface="DejaVu Sans"/>
                <a:cs typeface="DejaVu Sans"/>
              </a:defRPr>
            </a:pPr>
            <a:r>
              <a:rPr sz="4650" b="1">
                <a:solidFill>
                  <a:srgbClr val="172535"/>
                </a:solidFill>
                <a:latin typeface="DejaVu Sans"/>
                <a:ea typeface="DejaVu Sans"/>
                <a:cs typeface="DejaVu Sans"/>
              </a:rPr>
              <a:t>Поиск стикеров</a:t>
            </a:r>
          </a:p>
          <a:p xmlns:a="http://schemas.openxmlformats.org/drawingml/2006/main">
            <a:pPr>
              <a:defRPr sz="4650" b="1">
                <a:solidFill>
                  <a:srgbClr val="172535"/>
                </a:solidFill>
                <a:latin typeface="DejaVu Sans"/>
                <a:ea typeface="DejaVu Sans"/>
                <a:cs typeface="DejaVu Sans"/>
              </a:defRPr>
            </a:pPr>
            <a:r>
              <a:rPr sz="4650" b="1">
                <a:solidFill>
                  <a:srgbClr val="172535"/>
                </a:solidFill>
                <a:latin typeface="DejaVu Sans"/>
                <a:ea typeface="DejaVu Sans"/>
                <a:cs typeface="DejaVu Sans"/>
              </a:rPr>
              <a:t>и открыток</a:t>
            </a:r>
          </a:p>
        </p:txBody>
      </p:sp>
      <p:sp>
        <p:nvSpPr>
          <p:cNvPr id="3" name="">
            <a:extLst xmlns:a="http://schemas.openxmlformats.org/drawingml/2006/main">
              <a:ext uri="{FF2B5EF4-FFF2-40B4-BE49-F238E27FC236}">
                <a16:creationId xmlns:a16="http://schemas.microsoft.com/office/drawing/2014/main" id="{DAAA6E4F-8E7C-49C8-A4E5-78416CF70E94}"/>
              </a:ext>
            </a:extLst>
          </p:cNvPr>
          <p:cNvSpPr>
            <a:spLocks xmlns:a="http://schemas.openxmlformats.org/drawingml/2006/main" noGrp="1"/>
          </p:cNvSpPr>
          <p:nvPr/>
        </p:nvSpPr>
        <p:spPr>
          <a:xfrm xmlns:a="http://schemas.openxmlformats.org/drawingml/2006/main">
            <a:off x="647700" y="34956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546273"/>
                </a:solidFill>
                <a:latin typeface="DejaVu Sans"/>
                <a:ea typeface="DejaVu Sans"/>
                <a:cs typeface="DejaVu Sans"/>
              </a:defRPr>
            </a:pPr>
            <a:r>
              <a:rPr sz="2400" b="0">
                <a:solidFill>
                  <a:srgbClr val="546273"/>
                </a:solidFill>
                <a:latin typeface="DejaVu Sans"/>
                <a:ea typeface="DejaVu Sans"/>
                <a:cs typeface="DejaVu Sans"/>
              </a:rPr>
              <a:t>Дообучение SigLIP 2</a:t>
            </a:r>
          </a:p>
          <a:p xmlns:a="http://schemas.openxmlformats.org/drawingml/2006/main">
            <a:pPr>
              <a:defRPr sz="2400" b="0">
                <a:solidFill>
                  <a:srgbClr val="546273"/>
                </a:solidFill>
                <a:latin typeface="DejaVu Sans"/>
                <a:ea typeface="DejaVu Sans"/>
                <a:cs typeface="DejaVu Sans"/>
              </a:defRPr>
            </a:pPr>
            <a:r>
              <a:rPr sz="2400" b="0">
                <a:solidFill>
                  <a:srgbClr val="546273"/>
                </a:solidFill>
                <a:latin typeface="DejaVu Sans"/>
                <a:ea typeface="DejaVu Sans"/>
                <a:cs typeface="DejaVu Sans"/>
              </a:rPr>
              <a:t>и генерация по запросу</a:t>
            </a:r>
          </a:p>
        </p:txBody>
      </p:sp>
      <p:sp>
        <p:nvSpPr>
          <p:cNvPr id="4" name="">
            <a:extLst xmlns:a="http://schemas.openxmlformats.org/drawingml/2006/main">
              <a:ext uri="{FF2B5EF4-FFF2-40B4-BE49-F238E27FC236}">
                <a16:creationId xmlns:a16="http://schemas.microsoft.com/office/drawing/2014/main" id="{ADD6F28E-7D18-4D46-9C51-E5FBDFB4404F}"/>
              </a:ext>
            </a:extLst>
          </p:cNvPr>
          <p:cNvSpPr>
            <a:spLocks xmlns:a="http://schemas.openxmlformats.org/drawingml/2006/main" noGrp="1"/>
          </p:cNvSpPr>
          <p:nvPr/>
        </p:nvSpPr>
        <p:spPr>
          <a:xfrm xmlns:a="http://schemas.openxmlformats.org/drawingml/2006/main">
            <a:off x="647700" y="5562600"/>
            <a:ext cx="7381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2535"/>
                </a:solidFill>
                <a:latin typeface="DejaVu Sans"/>
                <a:ea typeface="DejaVu Sans"/>
                <a:cs typeface="DejaVu Sans"/>
              </a:defRPr>
            </a:pPr>
            <a:r>
              <a:rPr sz="1725" b="0">
                <a:solidFill>
                  <a:srgbClr val="172535"/>
                </a:solidFill>
                <a:latin typeface="DejaVu Sans"/>
                <a:ea typeface="DejaVu Sans"/>
                <a:cs typeface="DejaVu Sans"/>
              </a:rPr>
              <a:t>Рахим Гулямов</a:t>
            </a:r>
          </a:p>
          <a:p xmlns:a="http://schemas.openxmlformats.org/drawingml/2006/main">
            <a:pPr>
              <a:defRPr sz="1725" b="0">
                <a:solidFill>
                  <a:srgbClr val="172535"/>
                </a:solidFill>
                <a:latin typeface="DejaVu Sans"/>
                <a:ea typeface="DejaVu Sans"/>
                <a:cs typeface="DejaVu Sans"/>
              </a:defRPr>
            </a:pPr>
            <a:r>
              <a:rPr sz="1725" b="0">
                <a:solidFill>
                  <a:srgbClr val="172535"/>
                </a:solidFill>
                <a:latin typeface="DejaVu Sans"/>
                <a:ea typeface="DejaVu Sans"/>
                <a:cs typeface="DejaVu Sans"/>
              </a:rPr>
              <a:t>Итоговый проект по компьютерному зрению</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ae5e2bd699547d6"/>
          <a:stretch xmlns:a="http://schemas.openxmlformats.org/drawingml/2006/main"/>
        </p:blipFill>
        <p:spPr>
          <a:xfrm xmlns:a="http://schemas.openxmlformats.org/drawingml/2006/main">
            <a:off x="7486650" y="1171575"/>
            <a:ext cx="4229100" cy="4229100"/>
          </a:xfrm>
          <a:prstGeom xmlns:a="http://schemas.openxmlformats.org/drawingml/2006/main" prst="rect">
            <a:avLst/>
          </a:prstGeom>
        </p:spPr>
      </p:pic>
    </p:spTree>
    <p:extLst>
      <p:ext uri="{BB962C8B-B14F-4D97-AF65-F5344CB8AC3E}">
        <p14:creationId xmlns:p14="http://schemas.microsoft.com/office/powerpoint/2010/main" val="5855276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585D51-689C-4F27-B433-1CDC683B627C}"/>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Пользовательский сценарий</a:t>
            </a:r>
          </a:p>
        </p:txBody>
      </p:sp>
      <p:sp>
        <p:nvSpPr>
          <p:cNvPr id="2" name="">
            <a:extLst xmlns:a="http://schemas.openxmlformats.org/drawingml/2006/main">
              <a:ext uri="{FF2B5EF4-FFF2-40B4-BE49-F238E27FC236}">
                <a16:creationId xmlns:a16="http://schemas.microsoft.com/office/drawing/2014/main" id="{31417720-B63C-4706-83A1-500689EC396E}"/>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33C4FF2B-34FF-460F-A407-456C3311FB11}"/>
              </a:ext>
            </a:extLst>
          </p:cNvPr>
          <p:cNvSpPr>
            <a:spLocks xmlns:a="http://schemas.openxmlformats.org/drawingml/2006/main" noGrp="1"/>
          </p:cNvSpPr>
          <p:nvPr/>
        </p:nvSpPr>
        <p:spPr>
          <a:xfrm xmlns:a="http://schemas.openxmlformats.org/drawingml/2006/main">
            <a:off x="609600" y="1628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6F4AD1"/>
                </a:solidFill>
                <a:latin typeface="DejaVu Sans"/>
                <a:ea typeface="DejaVu Sans"/>
                <a:cs typeface="DejaVu Sans"/>
              </a:defRPr>
            </a:pPr>
            <a:r>
              <a:rPr sz="2700" b="1">
                <a:solidFill>
                  <a:srgbClr val="6F4AD1"/>
                </a:solidFill>
                <a:latin typeface="DejaVu Sans"/>
                <a:ea typeface="DejaVu Sans"/>
                <a:cs typeface="DejaVu Sans"/>
              </a:rPr>
              <a:t>«Грустный кот под дождём»</a:t>
            </a:r>
          </a:p>
        </p:txBody>
      </p:sp>
      <p:sp>
        <p:nvSpPr>
          <p:cNvPr id="4" name="">
            <a:extLst xmlns:a="http://schemas.openxmlformats.org/drawingml/2006/main">
              <a:ext uri="{FF2B5EF4-FFF2-40B4-BE49-F238E27FC236}">
                <a16:creationId xmlns:a16="http://schemas.microsoft.com/office/drawing/2014/main" id="{53E2F9CF-C325-4A3E-B588-87417135C5D2}"/>
              </a:ext>
            </a:extLst>
          </p:cNvPr>
          <p:cNvSpPr>
            <a:spLocks xmlns:a="http://schemas.openxmlformats.org/drawingml/2006/main" noGrp="1"/>
          </p:cNvSpPr>
          <p:nvPr/>
        </p:nvSpPr>
        <p:spPr>
          <a:xfrm xmlns:a="http://schemas.openxmlformats.org/drawingml/2006/main">
            <a:off x="609600" y="263842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72535"/>
                </a:solidFill>
                <a:latin typeface="DejaVu Sans"/>
                <a:ea typeface="DejaVu Sans"/>
                <a:cs typeface="DejaVu Sans"/>
              </a:defRPr>
            </a:pPr>
            <a:r>
              <a:rPr sz="2325" b="1">
                <a:solidFill>
                  <a:srgbClr val="172535"/>
                </a:solidFill>
                <a:latin typeface="DejaVu Sans"/>
                <a:ea typeface="DejaVu Sans"/>
                <a:cs typeface="DejaVu Sans"/>
              </a:rPr>
              <a:t>Поиск в каталоге</a:t>
            </a:r>
          </a:p>
        </p:txBody>
      </p:sp>
      <p:sp>
        <p:nvSpPr>
          <p:cNvPr id="5" name="">
            <a:extLst xmlns:a="http://schemas.openxmlformats.org/drawingml/2006/main">
              <a:ext uri="{FF2B5EF4-FFF2-40B4-BE49-F238E27FC236}">
                <a16:creationId xmlns:a16="http://schemas.microsoft.com/office/drawing/2014/main" id="{5962594E-23B0-4693-BC8B-4BB4C98AF602}"/>
              </a:ext>
            </a:extLst>
          </p:cNvPr>
          <p:cNvSpPr>
            <a:spLocks xmlns:a="http://schemas.openxmlformats.org/drawingml/2006/main" noGrp="1"/>
          </p:cNvSpPr>
          <p:nvPr/>
        </p:nvSpPr>
        <p:spPr>
          <a:xfrm xmlns:a="http://schemas.openxmlformats.org/drawingml/2006/main">
            <a:off x="609600" y="3267075"/>
            <a:ext cx="52482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12 результатов на запрос RU / EN</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Фильтр «Стикеры» или «Открытки»</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Отдельный режим поиска по надписям</a:t>
            </a:r>
          </a:p>
        </p:txBody>
      </p:sp>
      <p:sp>
        <p:nvSpPr>
          <p:cNvPr id="6" name="">
            <a:extLst xmlns:a="http://schemas.openxmlformats.org/drawingml/2006/main">
              <a:ext uri="{FF2B5EF4-FFF2-40B4-BE49-F238E27FC236}">
                <a16:creationId xmlns:a16="http://schemas.microsoft.com/office/drawing/2014/main" id="{478A88A5-3FB1-492E-9692-098718D19440}"/>
              </a:ext>
            </a:extLst>
          </p:cNvPr>
          <p:cNvSpPr>
            <a:spLocks xmlns:a="http://schemas.openxmlformats.org/drawingml/2006/main" noGrp="1"/>
          </p:cNvSpPr>
          <p:nvPr/>
        </p:nvSpPr>
        <p:spPr>
          <a:xfrm xmlns:a="http://schemas.openxmlformats.org/drawingml/2006/main">
            <a:off x="6572250" y="263842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72535"/>
                </a:solidFill>
                <a:latin typeface="DejaVu Sans"/>
                <a:ea typeface="DejaVu Sans"/>
                <a:cs typeface="DejaVu Sans"/>
              </a:defRPr>
            </a:pPr>
            <a:r>
              <a:rPr sz="2325" b="1">
                <a:solidFill>
                  <a:srgbClr val="172535"/>
                </a:solidFill>
                <a:latin typeface="DejaVu Sans"/>
                <a:ea typeface="DejaVu Sans"/>
                <a:cs typeface="DejaVu Sans"/>
              </a:rPr>
              <a:t>Создание новой картинки</a:t>
            </a:r>
          </a:p>
        </p:txBody>
      </p:sp>
      <p:sp>
        <p:nvSpPr>
          <p:cNvPr id="7" name="">
            <a:extLst xmlns:a="http://schemas.openxmlformats.org/drawingml/2006/main">
              <a:ext uri="{FF2B5EF4-FFF2-40B4-BE49-F238E27FC236}">
                <a16:creationId xmlns:a16="http://schemas.microsoft.com/office/drawing/2014/main" id="{050A726B-9875-4127-A40B-FDC749B13984}"/>
              </a:ext>
            </a:extLst>
          </p:cNvPr>
          <p:cNvSpPr>
            <a:spLocks xmlns:a="http://schemas.openxmlformats.org/drawingml/2006/main" noGrp="1"/>
          </p:cNvSpPr>
          <p:nvPr/>
        </p:nvSpPr>
        <p:spPr>
          <a:xfrm xmlns:a="http://schemas.openxmlformats.org/drawingml/2006/main">
            <a:off x="6572250" y="3267075"/>
            <a:ext cx="5000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Генерация по описанию</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Просмотр и скачивание исходника</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Удаление фона отдельной кнопкой</a:t>
            </a:r>
          </a:p>
        </p:txBody>
      </p:sp>
      <p:sp>
        <p:nvSpPr>
          <p:cNvPr id="8" name="">
            <a:extLst xmlns:a="http://schemas.openxmlformats.org/drawingml/2006/main">
              <a:ext uri="{FF2B5EF4-FFF2-40B4-BE49-F238E27FC236}">
                <a16:creationId xmlns:a16="http://schemas.microsoft.com/office/drawing/2014/main" id="{EAB94DB7-8509-40AC-8399-2A9CA4BD6906}"/>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Генерацию запускает пользователь. Автоматический порог отсутствия результата не настроен.</a:t>
            </a:r>
          </a:p>
        </p:txBody>
      </p:sp>
    </p:spTree>
    <p:extLst>
      <p:ext uri="{BB962C8B-B14F-4D97-AF65-F5344CB8AC3E}">
        <p14:creationId xmlns:p14="http://schemas.microsoft.com/office/powerpoint/2010/main" val="3108945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FC8B77-BE24-4D0C-9E18-56A8C93F595D}"/>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Каталог из 30 914 изображений</a:t>
            </a:r>
          </a:p>
        </p:txBody>
      </p:sp>
      <p:sp>
        <p:nvSpPr>
          <p:cNvPr id="2" name="">
            <a:extLst xmlns:a="http://schemas.openxmlformats.org/drawingml/2006/main">
              <a:ext uri="{FF2B5EF4-FFF2-40B4-BE49-F238E27FC236}">
                <a16:creationId xmlns:a16="http://schemas.microsoft.com/office/drawing/2014/main" id="{D63BFDC2-65F5-47B3-8A17-EF7A4389DF7F}"/>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03</a:t>
            </a:r>
          </a:p>
        </p:txBody>
      </p:sp>
      <p:graphicFrame>
        <p:nvGraphicFramePr>
          <p:cNvPr id="10" name=""/>
          <p:cNvGraphicFramePr/>
          <p:nvPr/>
        </p:nvGraphicFramePr>
        <p:xfrm>
          <a:off xmlns:a="http://schemas.openxmlformats.org/drawingml/2006/main" x="609600" y="1552575"/>
          <a:ext xmlns:a="http://schemas.openxmlformats.org/drawingml/2006/main" cx="10934700" cy="2695575"/>
        </p:xfrm>
        <a:graphic xmlns:a="http://schemas.openxmlformats.org/drawingml/2006/main">
          <a:graphicData uri="http://schemas.openxmlformats.org/drawingml/2006/table">
            <a:tbl>
              <a:tblPr/>
              <a:tblGrid>
                <a:gridCol w="4953000"/>
                <a:gridCol w="2095500"/>
                <a:gridCol w="3886200"/>
              </a:tblGrid>
              <a:tr h="539115">
                <a:tc>
                  <a:txBody>
                    <a:bodyPr>
                      <a:noAutofit/>
                    </a:bodyPr>
                    <a:lstStyle/>
                    <a:p>
                      <a:r>
                        <a:rPr sz="1800" b="1">
                          <a:solidFill>
                            <a:srgbClr val="FFFFFF"/>
                          </a:solidFill>
                          <a:latin typeface="DejaVu Sans"/>
                          <a:ea typeface="DejaVu Sans"/>
                          <a:cs typeface="DejaVu Sans"/>
                        </a:rPr>
                        <a:t>Источник</a:t>
                      </a:r>
                    </a:p>
                  </a:txBody>
                  <a:tcPr marL="91440" marR="91440" marT="45720" marB="45720">
                    <a:solidFill>
                      <a:srgbClr val="172535"/>
                    </a:solidFill>
                  </a:tcPr>
                </a:tc>
                <a:tc>
                  <a:txBody>
                    <a:bodyPr>
                      <a:noAutofit/>
                    </a:bodyPr>
                    <a:lstStyle/>
                    <a:p>
                      <a:r>
                        <a:rPr sz="1800" b="1">
                          <a:solidFill>
                            <a:srgbClr val="FFFFFF"/>
                          </a:solidFill>
                          <a:latin typeface="DejaVu Sans"/>
                          <a:ea typeface="DejaVu Sans"/>
                          <a:cs typeface="DejaVu Sans"/>
                        </a:rPr>
                        <a:t>Изображений</a:t>
                      </a:r>
                    </a:p>
                  </a:txBody>
                  <a:tcPr marL="91440" marR="91440" marT="45720" marB="45720">
                    <a:solidFill>
                      <a:srgbClr val="172535"/>
                    </a:solidFill>
                  </a:tcPr>
                </a:tc>
                <a:tc>
                  <a:txBody>
                    <a:bodyPr>
                      <a:noAutofit/>
                    </a:bodyPr>
                    <a:lstStyle/>
                    <a:p>
                      <a:r>
                        <a:rPr sz="1800" b="1">
                          <a:solidFill>
                            <a:srgbClr val="FFFFFF"/>
                          </a:solidFill>
                          <a:latin typeface="DejaVu Sans"/>
                          <a:ea typeface="DejaVu Sans"/>
                          <a:cs typeface="DejaVu Sans"/>
                        </a:rPr>
                        <a:t>Лицензия источника</a:t>
                      </a:r>
                    </a:p>
                  </a:txBody>
                  <a:tcPr marL="91440" marR="91440" marT="45720" marB="45720">
                    <a:solidFill>
                      <a:srgbClr val="172535"/>
                    </a:solidFill>
                  </a:tcPr>
                </a:tc>
              </a:tr>
              <a:tr h="539115">
                <a:tc>
                  <a:txBody>
                    <a:bodyPr>
                      <a:noAutofit/>
                    </a:bodyPr>
                    <a:lstStyle/>
                    <a:p>
                      <a:r>
                        <a:rPr sz="1800" b="0">
                          <a:solidFill>
                            <a:srgbClr val="172535"/>
                          </a:solidFill>
                          <a:latin typeface="DejaVu Sans"/>
                          <a:ea typeface="DejaVu Sans"/>
                          <a:cs typeface="DejaVu Sans"/>
                        </a:rPr>
                        <a:t>nyuuzyou/stickers</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30 000</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WTFPL</a:t>
                      </a:r>
                    </a:p>
                  </a:txBody>
                  <a:tcPr marL="91440" marR="91440" marT="45720" marB="45720">
                    <a:solidFill>
                      <a:srgbClr val="FFFFFF"/>
                    </a:solidFill>
                  </a:tcPr>
                </a:tc>
              </a:tr>
              <a:tr h="539115">
                <a:tc>
                  <a:txBody>
                    <a:bodyPr>
                      <a:noAutofit/>
                    </a:bodyPr>
                    <a:lstStyle/>
                    <a:p>
                      <a:r>
                        <a:rPr sz="1800" b="0">
                          <a:solidFill>
                            <a:srgbClr val="172535"/>
                          </a:solidFill>
                          <a:latin typeface="DejaVu Sans"/>
                          <a:ea typeface="DejaVu Sans"/>
                          <a:cs typeface="DejaVu Sans"/>
                        </a:rPr>
                        <a:t>StickerQueries</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574</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MIT</a:t>
                      </a:r>
                    </a:p>
                  </a:txBody>
                  <a:tcPr marL="91440" marR="91440" marT="45720" marB="45720">
                    <a:solidFill>
                      <a:srgbClr val="F3F4F7"/>
                    </a:solidFill>
                  </a:tcPr>
                </a:tc>
              </a:tr>
              <a:tr h="539115">
                <a:tc>
                  <a:txBody>
                    <a:bodyPr>
                      <a:noAutofit/>
                    </a:bodyPr>
                    <a:lstStyle/>
                    <a:p>
                      <a:r>
                        <a:rPr sz="1800" b="0">
                          <a:solidFill>
                            <a:srgbClr val="172535"/>
                          </a:solidFill>
                          <a:latin typeface="DejaVu Sans"/>
                          <a:ea typeface="DejaVu Sans"/>
                          <a:cs typeface="DejaVu Sans"/>
                        </a:rPr>
                        <a:t>Synth-GCD</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100</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Apache-2.0</a:t>
                      </a:r>
                    </a:p>
                  </a:txBody>
                  <a:tcPr marL="91440" marR="91440" marT="45720" marB="45720">
                    <a:solidFill>
                      <a:srgbClr val="FFFFFF"/>
                    </a:solidFill>
                  </a:tcPr>
                </a:tc>
              </a:tr>
              <a:tr h="539115">
                <a:tc>
                  <a:txBody>
                    <a:bodyPr>
                      <a:noAutofit/>
                    </a:bodyPr>
                    <a:lstStyle/>
                    <a:p>
                      <a:r>
                        <a:rPr sz="1800" b="0">
                          <a:solidFill>
                            <a:srgbClr val="172535"/>
                          </a:solidFill>
                          <a:latin typeface="DejaVu Sans"/>
                          <a:ea typeface="DejaVu Sans"/>
                          <a:cs typeface="DejaVu Sans"/>
                        </a:rPr>
                        <a:t>OpenMoji-композиции</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240</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CC-BY-SA-4.0</a:t>
                      </a:r>
                    </a:p>
                  </a:txBody>
                  <a:tcPr marL="91440" marR="91440" marT="45720" marB="45720">
                    <a:solidFill>
                      <a:srgbClr val="F3F4F7"/>
                    </a:solidFill>
                  </a:tcPr>
                </a:tc>
              </a:tr>
            </a:tbl>
          </a:graphicData>
        </a:graphic>
      </p:graphicFrame>
      <p:sp>
        <p:nvSpPr>
          <p:cNvPr id="4" name="">
            <a:extLst xmlns:a="http://schemas.openxmlformats.org/drawingml/2006/main">
              <a:ext uri="{FF2B5EF4-FFF2-40B4-BE49-F238E27FC236}">
                <a16:creationId xmlns:a16="http://schemas.microsoft.com/office/drawing/2014/main" id="{5348460A-3B97-4C23-8E6C-BFFF2D3D7339}"/>
              </a:ext>
            </a:extLst>
          </p:cNvPr>
          <p:cNvSpPr>
            <a:spLocks xmlns:a="http://schemas.openxmlformats.org/drawingml/2006/main" noGrp="1"/>
          </p:cNvSpPr>
          <p:nvPr/>
        </p:nvSpPr>
        <p:spPr>
          <a:xfrm xmlns:a="http://schemas.openxmlformats.org/drawingml/2006/main">
            <a:off x="609600" y="45910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6F4AD1"/>
                </a:solidFill>
                <a:latin typeface="DejaVu Sans"/>
                <a:ea typeface="DejaVu Sans"/>
                <a:cs typeface="DejaVu Sans"/>
              </a:defRPr>
            </a:pPr>
            <a:r>
              <a:rPr sz="2775" b="1">
                <a:solidFill>
                  <a:srgbClr val="6F4AD1"/>
                </a:solidFill>
                <a:latin typeface="DejaVu Sans"/>
                <a:ea typeface="DejaVu Sans"/>
                <a:cs typeface="DejaVu Sans"/>
              </a:rPr>
              <a:t>30 574 стикера</a:t>
            </a:r>
          </a:p>
        </p:txBody>
      </p:sp>
      <p:sp>
        <p:nvSpPr>
          <p:cNvPr id="5" name="">
            <a:extLst xmlns:a="http://schemas.openxmlformats.org/drawingml/2006/main">
              <a:ext uri="{FF2B5EF4-FFF2-40B4-BE49-F238E27FC236}">
                <a16:creationId xmlns:a16="http://schemas.microsoft.com/office/drawing/2014/main" id="{A8F26BD7-436C-4ED9-97D4-0037C60FADD8}"/>
              </a:ext>
            </a:extLst>
          </p:cNvPr>
          <p:cNvSpPr>
            <a:spLocks xmlns:a="http://schemas.openxmlformats.org/drawingml/2006/main" noGrp="1"/>
          </p:cNvSpPr>
          <p:nvPr/>
        </p:nvSpPr>
        <p:spPr>
          <a:xfrm xmlns:a="http://schemas.openxmlformats.org/drawingml/2006/main">
            <a:off x="6400800" y="45910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217B8C"/>
                </a:solidFill>
                <a:latin typeface="DejaVu Sans"/>
                <a:ea typeface="DejaVu Sans"/>
                <a:cs typeface="DejaVu Sans"/>
              </a:defRPr>
            </a:pPr>
            <a:r>
              <a:rPr sz="2775" b="1">
                <a:solidFill>
                  <a:srgbClr val="217B8C"/>
                </a:solidFill>
                <a:latin typeface="DejaVu Sans"/>
                <a:ea typeface="DejaVu Sans"/>
                <a:cs typeface="DejaVu Sans"/>
              </a:rPr>
              <a:t>340 открыток</a:t>
            </a:r>
          </a:p>
        </p:txBody>
      </p:sp>
      <p:sp>
        <p:nvSpPr>
          <p:cNvPr id="6" name="">
            <a:extLst xmlns:a="http://schemas.openxmlformats.org/drawingml/2006/main">
              <a:ext uri="{FF2B5EF4-FFF2-40B4-BE49-F238E27FC236}">
                <a16:creationId xmlns:a16="http://schemas.microsoft.com/office/drawing/2014/main" id="{4F44CDE5-CE12-4F1A-AA16-35C4D0B9E5F8}"/>
              </a:ext>
            </a:extLst>
          </p:cNvPr>
          <p:cNvSpPr>
            <a:spLocks xmlns:a="http://schemas.openxmlformats.org/drawingml/2006/main" noGrp="1"/>
          </p:cNvSpPr>
          <p:nvPr/>
        </p:nvSpPr>
        <p:spPr>
          <a:xfrm xmlns:a="http://schemas.openxmlformats.org/drawingml/2006/main">
            <a:off x="609600" y="53054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Дисбаланс жанров и стилей</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Проверка файлов, хешей и групп дублей</a:t>
            </a:r>
          </a:p>
        </p:txBody>
      </p:sp>
      <p:sp>
        <p:nvSpPr>
          <p:cNvPr id="7" name="">
            <a:extLst xmlns:a="http://schemas.openxmlformats.org/drawingml/2006/main">
              <a:ext uri="{FF2B5EF4-FFF2-40B4-BE49-F238E27FC236}">
                <a16:creationId xmlns:a16="http://schemas.microsoft.com/office/drawing/2014/main" id="{C4ED9DBA-749E-425C-B16D-75C36078B43B}"/>
              </a:ext>
            </a:extLst>
          </p:cNvPr>
          <p:cNvSpPr>
            <a:spLocks xmlns:a="http://schemas.openxmlformats.org/drawingml/2006/main" noGrp="1"/>
          </p:cNvSpPr>
          <p:nvPr/>
        </p:nvSpPr>
        <p:spPr>
          <a:xfrm xmlns:a="http://schemas.openxmlformats.org/drawingml/2006/main">
            <a:off x="609600" y="63246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Лицензии указаны по источникам. Права на изображённых персонажей требуют отдельного учёта.</a:t>
            </a:r>
          </a:p>
        </p:txBody>
      </p:sp>
    </p:spTree>
    <p:extLst>
      <p:ext uri="{BB962C8B-B14F-4D97-AF65-F5344CB8AC3E}">
        <p14:creationId xmlns:p14="http://schemas.microsoft.com/office/powerpoint/2010/main" val="20263730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1CF37C-26D0-4129-ACA0-F0175C87081C}"/>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Разметка и разбиение данных</a:t>
            </a:r>
          </a:p>
        </p:txBody>
      </p:sp>
      <p:sp>
        <p:nvSpPr>
          <p:cNvPr id="2" name="">
            <a:extLst xmlns:a="http://schemas.openxmlformats.org/drawingml/2006/main">
              <a:ext uri="{FF2B5EF4-FFF2-40B4-BE49-F238E27FC236}">
                <a16:creationId xmlns:a16="http://schemas.microsoft.com/office/drawing/2014/main" id="{A99F55B7-22A2-46CC-AD87-12E30E356BEA}"/>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04</a:t>
            </a:r>
          </a:p>
        </p:txBody>
      </p:sp>
      <p:graphicFrame>
        <p:nvGraphicFramePr>
          <p:cNvPr id="11" name=""/>
          <p:cNvGraphicFramePr/>
          <p:nvPr/>
        </p:nvGraphicFramePr>
        <p:xfrm>
          <a:off xmlns:a="http://schemas.openxmlformats.org/drawingml/2006/main" x="609600" y="1476375"/>
          <a:ext xmlns:a="http://schemas.openxmlformats.org/drawingml/2006/main" cx="10934700" cy="2343150"/>
        </p:xfrm>
        <a:graphic xmlns:a="http://schemas.openxmlformats.org/drawingml/2006/main">
          <a:graphicData uri="http://schemas.openxmlformats.org/drawingml/2006/table">
            <a:tbl>
              <a:tblPr/>
              <a:tblGrid>
                <a:gridCol w="3524250"/>
                <a:gridCol w="2762250"/>
                <a:gridCol w="4648200"/>
              </a:tblGrid>
              <a:tr h="585788">
                <a:tc>
                  <a:txBody>
                    <a:bodyPr>
                      <a:noAutofit/>
                    </a:bodyPr>
                    <a:lstStyle/>
                    <a:p>
                      <a:r>
                        <a:rPr sz="1875" b="1">
                          <a:solidFill>
                            <a:srgbClr val="FFFFFF"/>
                          </a:solidFill>
                          <a:latin typeface="DejaVu Sans"/>
                          <a:ea typeface="DejaVu Sans"/>
                          <a:cs typeface="DejaVu Sans"/>
                        </a:rPr>
                        <a:t>Часть</a:t>
                      </a:r>
                    </a:p>
                  </a:txBody>
                  <a:tcPr marL="91440" marR="91440" marT="45720" marB="45720">
                    <a:solidFill>
                      <a:srgbClr val="172535"/>
                    </a:solidFill>
                  </a:tcPr>
                </a:tc>
                <a:tc>
                  <a:txBody>
                    <a:bodyPr>
                      <a:noAutofit/>
                    </a:bodyPr>
                    <a:lstStyle/>
                    <a:p>
                      <a:r>
                        <a:rPr sz="1875" b="1">
                          <a:solidFill>
                            <a:srgbClr val="FFFFFF"/>
                          </a:solidFill>
                          <a:latin typeface="DejaVu Sans"/>
                          <a:ea typeface="DejaVu Sans"/>
                          <a:cs typeface="DejaVu Sans"/>
                        </a:rPr>
                        <a:t>Картинок</a:t>
                      </a:r>
                    </a:p>
                  </a:txBody>
                  <a:tcPr marL="91440" marR="91440" marT="45720" marB="45720">
                    <a:solidFill>
                      <a:srgbClr val="172535"/>
                    </a:solidFill>
                  </a:tcPr>
                </a:tc>
                <a:tc>
                  <a:txBody>
                    <a:bodyPr>
                      <a:noAutofit/>
                    </a:bodyPr>
                    <a:lstStyle/>
                    <a:p>
                      <a:r>
                        <a:rPr sz="1875" b="1">
                          <a:solidFill>
                            <a:srgbClr val="FFFFFF"/>
                          </a:solidFill>
                          <a:latin typeface="DejaVu Sans"/>
                          <a:ea typeface="DejaVu Sans"/>
                          <a:cs typeface="DejaVu Sans"/>
                        </a:rPr>
                        <a:t>Запросов EN + RU</a:t>
                      </a:r>
                    </a:p>
                  </a:txBody>
                  <a:tcPr marL="91440" marR="91440" marT="45720" marB="45720">
                    <a:solidFill>
                      <a:srgbClr val="172535"/>
                    </a:solidFill>
                  </a:tcPr>
                </a:tc>
              </a:tr>
              <a:tr h="585788">
                <a:tc>
                  <a:txBody>
                    <a:bodyPr>
                      <a:noAutofit/>
                    </a:bodyPr>
                    <a:lstStyle/>
                    <a:p>
                      <a:r>
                        <a:rPr sz="1875" b="0">
                          <a:solidFill>
                            <a:srgbClr val="172535"/>
                          </a:solidFill>
                          <a:latin typeface="DejaVu Sans"/>
                          <a:ea typeface="DejaVu Sans"/>
                          <a:cs typeface="DejaVu Sans"/>
                        </a:rPr>
                        <a:t>Train</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21 805</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2 883 + 2 883</a:t>
                      </a:r>
                    </a:p>
                  </a:txBody>
                  <a:tcPr marL="91440" marR="91440" marT="45720" marB="45720">
                    <a:solidFill>
                      <a:srgbClr val="FFFFFF"/>
                    </a:solidFill>
                  </a:tcPr>
                </a:tc>
              </a:tr>
              <a:tr h="585788">
                <a:tc>
                  <a:txBody>
                    <a:bodyPr>
                      <a:noAutofit/>
                    </a:bodyPr>
                    <a:lstStyle/>
                    <a:p>
                      <a:r>
                        <a:rPr sz="1875" b="0">
                          <a:solidFill>
                            <a:srgbClr val="172535"/>
                          </a:solidFill>
                          <a:latin typeface="DejaVu Sans"/>
                          <a:ea typeface="DejaVu Sans"/>
                          <a:cs typeface="DejaVu Sans"/>
                        </a:rPr>
                        <a:t>Dev</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4 469</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608 + 608</a:t>
                      </a:r>
                    </a:p>
                  </a:txBody>
                  <a:tcPr marL="91440" marR="91440" marT="45720" marB="45720">
                    <a:solidFill>
                      <a:srgbClr val="F3F4F7"/>
                    </a:solidFill>
                  </a:tcPr>
                </a:tc>
              </a:tr>
              <a:tr h="585788">
                <a:tc>
                  <a:txBody>
                    <a:bodyPr>
                      <a:noAutofit/>
                    </a:bodyPr>
                    <a:lstStyle/>
                    <a:p>
                      <a:r>
                        <a:rPr sz="1875" b="0">
                          <a:solidFill>
                            <a:srgbClr val="172535"/>
                          </a:solidFill>
                          <a:latin typeface="DejaVu Sans"/>
                          <a:ea typeface="DejaVu Sans"/>
                          <a:cs typeface="DejaVu Sans"/>
                        </a:rPr>
                        <a:t>Test</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4 640</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680 + 680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958ABF9-03A6-4B26-9124-D729052A40C3}"/>
              </a:ext>
            </a:extLst>
          </p:cNvPr>
          <p:cNvSpPr>
            <a:spLocks xmlns:a="http://schemas.openxmlformats.org/drawingml/2006/main" noGrp="1"/>
          </p:cNvSpPr>
          <p:nvPr/>
        </p:nvSpPr>
        <p:spPr>
          <a:xfrm xmlns:a="http://schemas.openxmlformats.org/drawingml/2006/main">
            <a:off x="609600" y="42195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6F4AD1"/>
                </a:solidFill>
                <a:latin typeface="DejaVu Sans"/>
                <a:ea typeface="DejaVu Sans"/>
                <a:cs typeface="DejaVu Sans"/>
              </a:defRPr>
            </a:pPr>
            <a:r>
              <a:rPr sz="4350" b="1">
                <a:solidFill>
                  <a:srgbClr val="6F4AD1"/>
                </a:solidFill>
                <a:latin typeface="DejaVu Sans"/>
                <a:ea typeface="DejaVu Sans"/>
                <a:cs typeface="DejaVu Sans"/>
              </a:rPr>
              <a:t>21 776</a:t>
            </a:r>
          </a:p>
        </p:txBody>
      </p:sp>
      <p:sp>
        <p:nvSpPr>
          <p:cNvPr id="5" name="">
            <a:extLst xmlns:a="http://schemas.openxmlformats.org/drawingml/2006/main">
              <a:ext uri="{FF2B5EF4-FFF2-40B4-BE49-F238E27FC236}">
                <a16:creationId xmlns:a16="http://schemas.microsoft.com/office/drawing/2014/main" id="{DF3BB4B1-90C5-45A9-BD88-2F1856762D23}"/>
              </a:ext>
            </a:extLst>
          </p:cNvPr>
          <p:cNvSpPr>
            <a:spLocks xmlns:a="http://schemas.openxmlformats.org/drawingml/2006/main" noGrp="1"/>
          </p:cNvSpPr>
          <p:nvPr/>
        </p:nvSpPr>
        <p:spPr>
          <a:xfrm xmlns:a="http://schemas.openxmlformats.org/drawingml/2006/main">
            <a:off x="609600" y="504825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уникальных картинок в обучении</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99,87% доступной train-части</a:t>
            </a:r>
          </a:p>
        </p:txBody>
      </p:sp>
      <p:sp>
        <p:nvSpPr>
          <p:cNvPr id="6" name="">
            <a:extLst xmlns:a="http://schemas.openxmlformats.org/drawingml/2006/main">
              <a:ext uri="{FF2B5EF4-FFF2-40B4-BE49-F238E27FC236}">
                <a16:creationId xmlns:a16="http://schemas.microsoft.com/office/drawing/2014/main" id="{5E931774-67CC-4163-A5E3-61CBC2E0875E}"/>
              </a:ext>
            </a:extLst>
          </p:cNvPr>
          <p:cNvSpPr>
            <a:spLocks xmlns:a="http://schemas.openxmlformats.org/drawingml/2006/main" noGrp="1"/>
          </p:cNvSpPr>
          <p:nvPr/>
        </p:nvSpPr>
        <p:spPr>
          <a:xfrm xmlns:a="http://schemas.openxmlformats.org/drawingml/2006/main">
            <a:off x="6629400" y="4333875"/>
            <a:ext cx="4810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72535"/>
                </a:solidFill>
                <a:latin typeface="DejaVu Sans"/>
                <a:ea typeface="DejaVu Sans"/>
                <a:cs typeface="DejaVu Sans"/>
              </a:defRPr>
            </a:pPr>
            <a:r>
              <a:rPr sz="3225" b="1">
                <a:solidFill>
                  <a:srgbClr val="172535"/>
                </a:solidFill>
                <a:latin typeface="DejaVu Sans"/>
                <a:ea typeface="DejaVu Sans"/>
                <a:cs typeface="DejaVu Sans"/>
              </a:rPr>
              <a:t>49 318 пар</a:t>
            </a:r>
          </a:p>
        </p:txBody>
      </p:sp>
      <p:sp>
        <p:nvSpPr>
          <p:cNvPr id="7" name="">
            <a:extLst xmlns:a="http://schemas.openxmlformats.org/drawingml/2006/main">
              <a:ext uri="{FF2B5EF4-FFF2-40B4-BE49-F238E27FC236}">
                <a16:creationId xmlns:a16="http://schemas.microsoft.com/office/drawing/2014/main" id="{92D672A8-EE0B-4833-B8A0-49A28963282E}"/>
              </a:ext>
            </a:extLst>
          </p:cNvPr>
          <p:cNvSpPr>
            <a:spLocks xmlns:a="http://schemas.openxmlformats.org/drawingml/2006/main" noGrp="1"/>
          </p:cNvSpPr>
          <p:nvPr/>
        </p:nvSpPr>
        <p:spPr>
          <a:xfrm xmlns:a="http://schemas.openxmlformats.org/drawingml/2006/main">
            <a:off x="6629400" y="50482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43 552 автоматических описания</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5 766 запросов и переводов</a:t>
            </a:r>
          </a:p>
        </p:txBody>
      </p:sp>
      <p:sp>
        <p:nvSpPr>
          <p:cNvPr id="8" name="">
            <a:extLst xmlns:a="http://schemas.openxmlformats.org/drawingml/2006/main">
              <a:ext uri="{FF2B5EF4-FFF2-40B4-BE49-F238E27FC236}">
                <a16:creationId xmlns:a16="http://schemas.microsoft.com/office/drawing/2014/main" id="{7DC9B607-F882-4E76-AAFC-B80345AFB82D}"/>
              </a:ext>
            </a:extLst>
          </p:cNvPr>
          <p:cNvSpPr>
            <a:spLocks xmlns:a="http://schemas.openxmlformats.org/drawingml/2006/main" noGrp="1"/>
          </p:cNvSpPr>
          <p:nvPr/>
        </p:nvSpPr>
        <p:spPr>
          <a:xfrm xmlns:a="http://schemas.openxmlformats.org/drawingml/2006/main">
            <a:off x="60960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Caption/OCR: 30 875 валидных записей. Dev и test исключены из обучения.</a:t>
            </a:r>
          </a:p>
        </p:txBody>
      </p:sp>
    </p:spTree>
    <p:extLst>
      <p:ext uri="{BB962C8B-B14F-4D97-AF65-F5344CB8AC3E}">
        <p14:creationId xmlns:p14="http://schemas.microsoft.com/office/powerpoint/2010/main" val="17067743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572447-E39A-460B-86AF-D52F2BEDE84B}"/>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Модель и поиск по каталогу</a:t>
            </a:r>
          </a:p>
        </p:txBody>
      </p:sp>
      <p:sp>
        <p:nvSpPr>
          <p:cNvPr id="2" name="">
            <a:extLst xmlns:a="http://schemas.openxmlformats.org/drawingml/2006/main">
              <a:ext uri="{FF2B5EF4-FFF2-40B4-BE49-F238E27FC236}">
                <a16:creationId xmlns:a16="http://schemas.microsoft.com/office/drawing/2014/main" id="{B9F64B7A-6DBC-4315-B8AA-7C3DC59DEE82}"/>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BDD99EAA-84D6-4048-8F53-7A9D59732826}"/>
              </a:ext>
            </a:extLst>
          </p:cNvPr>
          <p:cNvSpPr>
            <a:spLocks xmlns:a="http://schemas.openxmlformats.org/drawingml/2006/main" noGrp="1"/>
          </p:cNvSpPr>
          <p:nvPr/>
        </p:nvSpPr>
        <p:spPr>
          <a:xfrm xmlns:a="http://schemas.openxmlformats.org/drawingml/2006/main">
            <a:off x="609600" y="146685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6F4AD1"/>
                </a:solidFill>
                <a:latin typeface="DejaVu Sans"/>
                <a:ea typeface="DejaVu Sans"/>
                <a:cs typeface="DejaVu Sans"/>
              </a:defRPr>
            </a:pPr>
            <a:r>
              <a:rPr sz="2400" b="1">
                <a:solidFill>
                  <a:srgbClr val="6F4AD1"/>
                </a:solidFill>
                <a:latin typeface="DejaVu Sans"/>
                <a:ea typeface="DejaVu Sans"/>
                <a:cs typeface="DejaVu Sans"/>
              </a:rPr>
              <a:t>SigLIP 2 SO400M, вход 384 × 384</a:t>
            </a:r>
          </a:p>
        </p:txBody>
      </p:sp>
      <p:sp>
        <p:nvSpPr>
          <p:cNvPr id="4" name="">
            <a:extLst xmlns:a="http://schemas.openxmlformats.org/drawingml/2006/main">
              <a:ext uri="{FF2B5EF4-FFF2-40B4-BE49-F238E27FC236}">
                <a16:creationId xmlns:a16="http://schemas.microsoft.com/office/drawing/2014/main" id="{5676AF7F-DE53-49A0-B9A5-FAA7820449CC}"/>
              </a:ext>
            </a:extLst>
          </p:cNvPr>
          <p:cNvSpPr>
            <a:spLocks xmlns:a="http://schemas.openxmlformats.org/drawingml/2006/main" noGrp="1"/>
          </p:cNvSpPr>
          <p:nvPr/>
        </p:nvSpPr>
        <p:spPr>
          <a:xfrm xmlns:a="http://schemas.openxmlformats.org/drawingml/2006/main">
            <a:off x="609600" y="22764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72535"/>
                </a:solidFill>
                <a:latin typeface="DejaVu Sans"/>
                <a:ea typeface="DejaVu Sans"/>
                <a:cs typeface="DejaVu Sans"/>
              </a:defRPr>
            </a:pPr>
            <a:r>
              <a:rPr sz="2250" b="1">
                <a:solidFill>
                  <a:srgbClr val="172535"/>
                </a:solidFill>
                <a:latin typeface="DejaVu Sans"/>
                <a:ea typeface="DejaVu Sans"/>
                <a:cs typeface="DejaVu Sans"/>
              </a:rPr>
              <a:t>Заранее для каталога</a:t>
            </a:r>
          </a:p>
        </p:txBody>
      </p:sp>
      <p:sp>
        <p:nvSpPr>
          <p:cNvPr id="5" name="">
            <a:extLst xmlns:a="http://schemas.openxmlformats.org/drawingml/2006/main">
              <a:ext uri="{FF2B5EF4-FFF2-40B4-BE49-F238E27FC236}">
                <a16:creationId xmlns:a16="http://schemas.microsoft.com/office/drawing/2014/main" id="{476BC701-24EB-4017-B14A-5A5A9B2BFC66}"/>
              </a:ext>
            </a:extLst>
          </p:cNvPr>
          <p:cNvSpPr>
            <a:spLocks xmlns:a="http://schemas.openxmlformats.org/drawingml/2006/main" noGrp="1"/>
          </p:cNvSpPr>
          <p:nvPr/>
        </p:nvSpPr>
        <p:spPr>
          <a:xfrm xmlns:a="http://schemas.openxmlformats.org/drawingml/2006/main">
            <a:off x="609600" y="2886075"/>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Изображение</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Визуальный энкодер</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Нормированный вектор из 1 152 чисел</a:t>
            </a:r>
          </a:p>
        </p:txBody>
      </p:sp>
      <p:sp>
        <p:nvSpPr>
          <p:cNvPr id="6" name="">
            <a:extLst xmlns:a="http://schemas.openxmlformats.org/drawingml/2006/main">
              <a:ext uri="{FF2B5EF4-FFF2-40B4-BE49-F238E27FC236}">
                <a16:creationId xmlns:a16="http://schemas.microsoft.com/office/drawing/2014/main" id="{850264FA-FFAF-4B4F-9790-04D79CB260F7}"/>
              </a:ext>
            </a:extLst>
          </p:cNvPr>
          <p:cNvSpPr>
            <a:spLocks xmlns:a="http://schemas.openxmlformats.org/drawingml/2006/main" noGrp="1"/>
          </p:cNvSpPr>
          <p:nvPr/>
        </p:nvSpPr>
        <p:spPr>
          <a:xfrm xmlns:a="http://schemas.openxmlformats.org/drawingml/2006/main">
            <a:off x="6572250" y="22764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72535"/>
                </a:solidFill>
                <a:latin typeface="DejaVu Sans"/>
                <a:ea typeface="DejaVu Sans"/>
                <a:cs typeface="DejaVu Sans"/>
              </a:defRPr>
            </a:pPr>
            <a:r>
              <a:rPr sz="2250" b="1">
                <a:solidFill>
                  <a:srgbClr val="172535"/>
                </a:solidFill>
                <a:latin typeface="DejaVu Sans"/>
                <a:ea typeface="DejaVu Sans"/>
                <a:cs typeface="DejaVu Sans"/>
              </a:rPr>
              <a:t>При каждом запросе</a:t>
            </a:r>
          </a:p>
        </p:txBody>
      </p:sp>
      <p:sp>
        <p:nvSpPr>
          <p:cNvPr id="7" name="">
            <a:extLst xmlns:a="http://schemas.openxmlformats.org/drawingml/2006/main">
              <a:ext uri="{FF2B5EF4-FFF2-40B4-BE49-F238E27FC236}">
                <a16:creationId xmlns:a16="http://schemas.microsoft.com/office/drawing/2014/main" id="{FD29B83C-A5D7-4DF8-8E1C-76CC0CB041A5}"/>
              </a:ext>
            </a:extLst>
          </p:cNvPr>
          <p:cNvSpPr>
            <a:spLocks xmlns:a="http://schemas.openxmlformats.org/drawingml/2006/main" noGrp="1"/>
          </p:cNvSpPr>
          <p:nvPr/>
        </p:nvSpPr>
        <p:spPr>
          <a:xfrm xmlns:a="http://schemas.openxmlformats.org/drawingml/2006/main">
            <a:off x="6572250" y="2886075"/>
            <a:ext cx="50387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Текст на русском или английском</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Текстовый энкодер</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Нормированный вектор из 1 152 чисел</a:t>
            </a:r>
          </a:p>
        </p:txBody>
      </p:sp>
      <p:sp>
        <p:nvSpPr>
          <p:cNvPr id="8" name="">
            <a:extLst xmlns:a="http://schemas.openxmlformats.org/drawingml/2006/main">
              <a:ext uri="{FF2B5EF4-FFF2-40B4-BE49-F238E27FC236}">
                <a16:creationId xmlns:a16="http://schemas.microsoft.com/office/drawing/2014/main" id="{7E375B4B-5549-4FEC-A16C-5834C7B29359}"/>
              </a:ext>
            </a:extLst>
          </p:cNvPr>
          <p:cNvSpPr>
            <a:spLocks xmlns:a="http://schemas.openxmlformats.org/drawingml/2006/main" noGrp="1"/>
          </p:cNvSpPr>
          <p:nvPr/>
        </p:nvSpPr>
        <p:spPr>
          <a:xfrm xmlns:a="http://schemas.openxmlformats.org/drawingml/2006/main">
            <a:off x="609600" y="50101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72535"/>
                </a:solidFill>
                <a:latin typeface="DejaVu Sans"/>
                <a:ea typeface="DejaVu Sans"/>
                <a:cs typeface="DejaVu Sans"/>
              </a:defRPr>
            </a:pPr>
            <a:r>
              <a:rPr sz="2400" b="1">
                <a:solidFill>
                  <a:srgbClr val="172535"/>
                </a:solidFill>
                <a:latin typeface="DejaVu Sans"/>
                <a:ea typeface="DejaVu Sans"/>
                <a:cs typeface="DejaVu Sans"/>
              </a:rPr>
              <a:t>Сходство = скалярное произведение векторов</a:t>
            </a:r>
          </a:p>
        </p:txBody>
      </p:sp>
      <p:sp>
        <p:nvSpPr>
          <p:cNvPr id="9" name="">
            <a:extLst xmlns:a="http://schemas.openxmlformats.org/drawingml/2006/main">
              <a:ext uri="{FF2B5EF4-FFF2-40B4-BE49-F238E27FC236}">
                <a16:creationId xmlns:a16="http://schemas.microsoft.com/office/drawing/2014/main" id="{83E0DEBC-5D3D-4121-AE11-8E2D4A2A7205}"/>
              </a:ext>
            </a:extLst>
          </p:cNvPr>
          <p:cNvSpPr>
            <a:spLocks xmlns:a="http://schemas.openxmlformats.org/drawingml/2006/main" noGrp="1"/>
          </p:cNvSpPr>
          <p:nvPr/>
        </p:nvSpPr>
        <p:spPr>
          <a:xfrm xmlns:a="http://schemas.openxmlformats.org/drawingml/2006/main">
            <a:off x="609600" y="59150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Точный поиск по всему каталогу. OCR TF-IDF + RRF доступен как отдельный режим.</a:t>
            </a:r>
          </a:p>
        </p:txBody>
      </p:sp>
    </p:spTree>
    <p:extLst>
      <p:ext uri="{BB962C8B-B14F-4D97-AF65-F5344CB8AC3E}">
        <p14:creationId xmlns:p14="http://schemas.microsoft.com/office/powerpoint/2010/main" val="17893659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B0B0B4-338D-49F8-B170-03A9BB2DF700}"/>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Полное дообучение SigLIP 2</a:t>
            </a:r>
          </a:p>
        </p:txBody>
      </p:sp>
      <p:sp>
        <p:nvSpPr>
          <p:cNvPr id="2" name="">
            <a:extLst xmlns:a="http://schemas.openxmlformats.org/drawingml/2006/main">
              <a:ext uri="{FF2B5EF4-FFF2-40B4-BE49-F238E27FC236}">
                <a16:creationId xmlns:a16="http://schemas.microsoft.com/office/drawing/2014/main" id="{06AD8139-C1C8-4FC1-A540-8FE0A6A11809}"/>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14F61CCF-D63D-4779-91AA-9DC03606435C}"/>
              </a:ext>
            </a:extLst>
          </p:cNvPr>
          <p:cNvSpPr>
            <a:spLocks xmlns:a="http://schemas.openxmlformats.org/drawingml/2006/main" noGrp="1"/>
          </p:cNvSpPr>
          <p:nvPr/>
        </p:nvSpPr>
        <p:spPr>
          <a:xfrm xmlns:a="http://schemas.openxmlformats.org/drawingml/2006/main">
            <a:off x="609600" y="1590675"/>
            <a:ext cx="552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725" b="1">
                <a:solidFill>
                  <a:srgbClr val="6F4AD1"/>
                </a:solidFill>
                <a:latin typeface="DejaVu Sans"/>
                <a:ea typeface="DejaVu Sans"/>
                <a:cs typeface="DejaVu Sans"/>
              </a:defRPr>
            </a:pPr>
            <a:r>
              <a:rPr sz="4725" b="1">
                <a:solidFill>
                  <a:srgbClr val="6F4AD1"/>
                </a:solidFill>
                <a:latin typeface="DejaVu Sans"/>
                <a:ea typeface="DejaVu Sans"/>
                <a:cs typeface="DejaVu Sans"/>
              </a:rPr>
              <a:t>1,136 млрд</a:t>
            </a:r>
          </a:p>
        </p:txBody>
      </p:sp>
      <p:sp>
        <p:nvSpPr>
          <p:cNvPr id="4" name="">
            <a:extLst xmlns:a="http://schemas.openxmlformats.org/drawingml/2006/main">
              <a:ext uri="{FF2B5EF4-FFF2-40B4-BE49-F238E27FC236}">
                <a16:creationId xmlns:a16="http://schemas.microsoft.com/office/drawing/2014/main" id="{8FFAC9F0-A8B2-4637-B204-4822A15BE7A0}"/>
              </a:ext>
            </a:extLst>
          </p:cNvPr>
          <p:cNvSpPr>
            <a:spLocks xmlns:a="http://schemas.openxmlformats.org/drawingml/2006/main" noGrp="1"/>
          </p:cNvSpPr>
          <p:nvPr/>
        </p:nvSpPr>
        <p:spPr>
          <a:xfrm xmlns:a="http://schemas.openxmlformats.org/drawingml/2006/main">
            <a:off x="638175" y="25908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72535"/>
                </a:solidFill>
                <a:latin typeface="DejaVu Sans"/>
                <a:ea typeface="DejaVu Sans"/>
                <a:cs typeface="DejaVu Sans"/>
              </a:defRPr>
            </a:pPr>
            <a:r>
              <a:rPr sz="2250" b="0">
                <a:solidFill>
                  <a:srgbClr val="172535"/>
                </a:solidFill>
                <a:latin typeface="DejaVu Sans"/>
                <a:ea typeface="DejaVu Sans"/>
                <a:cs typeface="DejaVu Sans"/>
              </a:rPr>
              <a:t>обучаемых параметров</a:t>
            </a:r>
          </a:p>
          <a:p xmlns:a="http://schemas.openxmlformats.org/drawingml/2006/main">
            <a:pPr>
              <a:defRPr sz="2250" b="0">
                <a:solidFill>
                  <a:srgbClr val="172535"/>
                </a:solidFill>
                <a:latin typeface="DejaVu Sans"/>
                <a:ea typeface="DejaVu Sans"/>
                <a:cs typeface="DejaVu Sans"/>
              </a:defRPr>
            </a:pPr>
            <a:r>
              <a:rPr sz="2250" b="0">
                <a:solidFill>
                  <a:srgbClr val="172535"/>
                </a:solidFill>
                <a:latin typeface="DejaVu Sans"/>
                <a:ea typeface="DejaVu Sans"/>
                <a:cs typeface="DejaVu Sans"/>
              </a:rPr>
              <a:t>Обе башни обновляются</a:t>
            </a:r>
          </a:p>
        </p:txBody>
      </p:sp>
      <p:sp>
        <p:nvSpPr>
          <p:cNvPr id="5" name="">
            <a:extLst xmlns:a="http://schemas.openxmlformats.org/drawingml/2006/main">
              <a:ext uri="{FF2B5EF4-FFF2-40B4-BE49-F238E27FC236}">
                <a16:creationId xmlns:a16="http://schemas.microsoft.com/office/drawing/2014/main" id="{8ED766A6-AE65-46AC-962C-413E38E2B5A6}"/>
              </a:ext>
            </a:extLst>
          </p:cNvPr>
          <p:cNvSpPr>
            <a:spLocks xmlns:a="http://schemas.openxmlformats.org/drawingml/2006/main" noGrp="1"/>
          </p:cNvSpPr>
          <p:nvPr/>
        </p:nvSpPr>
        <p:spPr>
          <a:xfrm xmlns:a="http://schemas.openxmlformats.org/drawingml/2006/main">
            <a:off x="609600" y="3819525"/>
            <a:ext cx="50482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72535"/>
                </a:solidFill>
                <a:latin typeface="DejaVu Sans"/>
                <a:ea typeface="DejaVu Sans"/>
                <a:cs typeface="DejaVu Sans"/>
              </a:defRPr>
            </a:pPr>
            <a:r>
              <a:rPr sz="2325" b="0">
                <a:solidFill>
                  <a:srgbClr val="172535"/>
                </a:solidFill>
                <a:latin typeface="DejaVu Sans"/>
                <a:ea typeface="DejaVu Sans"/>
                <a:cs typeface="DejaVu Sans"/>
              </a:rPr>
              <a:t>4 × A100 80 GB</a:t>
            </a:r>
          </a:p>
          <a:p xmlns:a="http://schemas.openxmlformats.org/drawingml/2006/main">
            <a:pPr>
              <a:defRPr sz="2325" b="0">
                <a:solidFill>
                  <a:srgbClr val="172535"/>
                </a:solidFill>
                <a:latin typeface="DejaVu Sans"/>
                <a:ea typeface="DejaVu Sans"/>
                <a:cs typeface="DejaVu Sans"/>
              </a:defRPr>
            </a:pPr>
            <a:r>
              <a:rPr sz="2325" b="0">
                <a:solidFill>
                  <a:srgbClr val="172535"/>
                </a:solidFill>
                <a:latin typeface="DejaVu Sans"/>
                <a:ea typeface="DejaVu Sans"/>
                <a:cs typeface="DejaVu Sans"/>
              </a:rPr>
              <a:t>Глобальный batch 128</a:t>
            </a:r>
          </a:p>
          <a:p xmlns:a="http://schemas.openxmlformats.org/drawingml/2006/main">
            <a:pPr>
              <a:defRPr sz="2325" b="0">
                <a:solidFill>
                  <a:srgbClr val="172535"/>
                </a:solidFill>
                <a:latin typeface="DejaVu Sans"/>
                <a:ea typeface="DejaVu Sans"/>
                <a:cs typeface="DejaVu Sans"/>
              </a:defRPr>
            </a:pPr>
            <a:r>
              <a:rPr sz="2325" b="0">
                <a:solidFill>
                  <a:srgbClr val="172535"/>
                </a:solidFill>
                <a:latin typeface="DejaVu Sans"/>
                <a:ea typeface="DejaVu Sans"/>
                <a:cs typeface="DejaVu Sans"/>
              </a:rPr>
              <a:t>3 эпохи, 1 158 шагов</a:t>
            </a:r>
          </a:p>
        </p:txBody>
      </p:sp>
      <p:sp>
        <p:nvSpPr>
          <p:cNvPr id="6" name="">
            <a:extLst xmlns:a="http://schemas.openxmlformats.org/drawingml/2006/main">
              <a:ext uri="{FF2B5EF4-FFF2-40B4-BE49-F238E27FC236}">
                <a16:creationId xmlns:a16="http://schemas.microsoft.com/office/drawing/2014/main" id="{F81E07D5-9FCF-4306-95D4-24B64C3723C2}"/>
              </a:ext>
            </a:extLst>
          </p:cNvPr>
          <p:cNvSpPr>
            <a:spLocks xmlns:a="http://schemas.openxmlformats.org/drawingml/2006/main" noGrp="1"/>
          </p:cNvSpPr>
          <p:nvPr/>
        </p:nvSpPr>
        <p:spPr>
          <a:xfrm xmlns:a="http://schemas.openxmlformats.org/drawingml/2006/main">
            <a:off x="6515100" y="1619250"/>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535"/>
                </a:solidFill>
                <a:latin typeface="DejaVu Sans"/>
                <a:ea typeface="DejaVu Sans"/>
                <a:cs typeface="DejaVu Sans"/>
              </a:defRPr>
            </a:pPr>
            <a:r>
              <a:rPr sz="2550" b="1">
                <a:solidFill>
                  <a:srgbClr val="172535"/>
                </a:solidFill>
                <a:latin typeface="DejaVu Sans"/>
                <a:ea typeface="DejaVu Sans"/>
                <a:cs typeface="DejaVu Sans"/>
              </a:rPr>
              <a:t>Попарный sigmoid loss</a:t>
            </a:r>
          </a:p>
        </p:txBody>
      </p:sp>
      <p:sp>
        <p:nvSpPr>
          <p:cNvPr id="7" name="">
            <a:extLst xmlns:a="http://schemas.openxmlformats.org/drawingml/2006/main">
              <a:ext uri="{FF2B5EF4-FFF2-40B4-BE49-F238E27FC236}">
                <a16:creationId xmlns:a16="http://schemas.microsoft.com/office/drawing/2014/main" id="{6C971874-6F65-473F-985E-02B26ABB2A6B}"/>
              </a:ext>
            </a:extLst>
          </p:cNvPr>
          <p:cNvSpPr>
            <a:spLocks xmlns:a="http://schemas.openxmlformats.org/drawingml/2006/main" noGrp="1"/>
          </p:cNvSpPr>
          <p:nvPr/>
        </p:nvSpPr>
        <p:spPr>
          <a:xfrm xmlns:a="http://schemas.openxmlformats.org/drawingml/2006/main">
            <a:off x="6515100" y="2466975"/>
            <a:ext cx="500062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Положительные пары сближаются</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Негативы из общего батча GPU</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Неизвестные пары одной группы</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исключаются из отрицательных</a:t>
            </a:r>
          </a:p>
        </p:txBody>
      </p:sp>
      <p:sp>
        <p:nvSpPr>
          <p:cNvPr id="8" name="">
            <a:extLst xmlns:a="http://schemas.openxmlformats.org/drawingml/2006/main">
              <a:ext uri="{FF2B5EF4-FFF2-40B4-BE49-F238E27FC236}">
                <a16:creationId xmlns:a16="http://schemas.microsoft.com/office/drawing/2014/main" id="{C1499DD6-1017-4499-85BD-D0C862D5B400}"/>
              </a:ext>
            </a:extLst>
          </p:cNvPr>
          <p:cNvSpPr>
            <a:spLocks xmlns:a="http://schemas.openxmlformats.org/drawingml/2006/main" noGrp="1"/>
          </p:cNvSpPr>
          <p:nvPr/>
        </p:nvSpPr>
        <p:spPr>
          <a:xfrm xmlns:a="http://schemas.openxmlformats.org/drawingml/2006/main">
            <a:off x="6515100" y="4752975"/>
            <a:ext cx="51816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AdamW, learning rate 5 × 10⁻⁶</a:t>
            </a:r>
          </a:p>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BF16, gradient checkpointing</a:t>
            </a:r>
          </a:p>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Warmup 5%, cosine scheduler</a:t>
            </a:r>
          </a:p>
        </p:txBody>
      </p:sp>
    </p:spTree>
    <p:extLst>
      <p:ext uri="{BB962C8B-B14F-4D97-AF65-F5344CB8AC3E}">
        <p14:creationId xmlns:p14="http://schemas.microsoft.com/office/powerpoint/2010/main" val="1632020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B31E34-C24D-4997-8EC3-ADC97DA45CC8}"/>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Протокол оценки</a:t>
            </a:r>
          </a:p>
        </p:txBody>
      </p:sp>
      <p:sp>
        <p:nvSpPr>
          <p:cNvPr id="2" name="">
            <a:extLst xmlns:a="http://schemas.openxmlformats.org/drawingml/2006/main">
              <a:ext uri="{FF2B5EF4-FFF2-40B4-BE49-F238E27FC236}">
                <a16:creationId xmlns:a16="http://schemas.microsoft.com/office/drawing/2014/main" id="{0BB5FABB-E89B-4E70-8071-32CE0A79139B}"/>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5BA2DAAF-847F-4F56-A331-E0CDFE4B3E6A}"/>
              </a:ext>
            </a:extLst>
          </p:cNvPr>
          <p:cNvSpPr>
            <a:spLocks xmlns:a="http://schemas.openxmlformats.org/drawingml/2006/main" noGrp="1"/>
          </p:cNvSpPr>
          <p:nvPr/>
        </p:nvSpPr>
        <p:spPr>
          <a:xfrm xmlns:a="http://schemas.openxmlformats.org/drawingml/2006/main">
            <a:off x="609600" y="1647825"/>
            <a:ext cx="4514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6F4AD1"/>
                </a:solidFill>
                <a:latin typeface="DejaVu Sans"/>
                <a:ea typeface="DejaVu Sans"/>
                <a:cs typeface="DejaVu Sans"/>
              </a:defRPr>
            </a:pPr>
            <a:r>
              <a:rPr sz="3150" b="1">
                <a:solidFill>
                  <a:srgbClr val="6F4AD1"/>
                </a:solidFill>
                <a:latin typeface="DejaVu Sans"/>
                <a:ea typeface="DejaVu Sans"/>
                <a:cs typeface="DejaVu Sans"/>
              </a:rPr>
              <a:t>NDCG@5</a:t>
            </a:r>
          </a:p>
        </p:txBody>
      </p:sp>
      <p:sp>
        <p:nvSpPr>
          <p:cNvPr id="4" name="">
            <a:extLst xmlns:a="http://schemas.openxmlformats.org/drawingml/2006/main">
              <a:ext uri="{FF2B5EF4-FFF2-40B4-BE49-F238E27FC236}">
                <a16:creationId xmlns:a16="http://schemas.microsoft.com/office/drawing/2014/main" id="{646B6A1D-58D4-4CBD-AF70-E2C4757B14A2}"/>
              </a:ext>
            </a:extLst>
          </p:cNvPr>
          <p:cNvSpPr>
            <a:spLocks xmlns:a="http://schemas.openxmlformats.org/drawingml/2006/main" noGrp="1"/>
          </p:cNvSpPr>
          <p:nvPr/>
        </p:nvSpPr>
        <p:spPr>
          <a:xfrm xmlns:a="http://schemas.openxmlformats.org/drawingml/2006/main">
            <a:off x="609600" y="2495550"/>
            <a:ext cx="55054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Позиция известного правильного</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ответа в первой пятёрке</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Выбор эпохи по среднему EN / RU на dev</a:t>
            </a:r>
          </a:p>
        </p:txBody>
      </p:sp>
      <p:sp>
        <p:nvSpPr>
          <p:cNvPr id="5" name="">
            <a:extLst xmlns:a="http://schemas.openxmlformats.org/drawingml/2006/main">
              <a:ext uri="{FF2B5EF4-FFF2-40B4-BE49-F238E27FC236}">
                <a16:creationId xmlns:a16="http://schemas.microsoft.com/office/drawing/2014/main" id="{0DC2F5EA-ABBD-4AFA-BA7A-D4E6D6AD3B19}"/>
              </a:ext>
            </a:extLst>
          </p:cNvPr>
          <p:cNvSpPr>
            <a:spLocks xmlns:a="http://schemas.openxmlformats.org/drawingml/2006/main" noGrp="1"/>
          </p:cNvSpPr>
          <p:nvPr/>
        </p:nvSpPr>
        <p:spPr>
          <a:xfrm xmlns:a="http://schemas.openxmlformats.org/drawingml/2006/main">
            <a:off x="609600" y="44005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217B8C"/>
                </a:solidFill>
                <a:latin typeface="DejaVu Sans"/>
                <a:ea typeface="DejaVu Sans"/>
                <a:cs typeface="DejaVu Sans"/>
              </a:defRPr>
            </a:pPr>
            <a:r>
              <a:rPr sz="3150" b="1">
                <a:solidFill>
                  <a:srgbClr val="217B8C"/>
                </a:solidFill>
                <a:latin typeface="DejaVu Sans"/>
                <a:ea typeface="DejaVu Sans"/>
                <a:cs typeface="DejaVu Sans"/>
              </a:rPr>
              <a:t>Hit@10</a:t>
            </a:r>
          </a:p>
        </p:txBody>
      </p:sp>
      <p:sp>
        <p:nvSpPr>
          <p:cNvPr id="6" name="">
            <a:extLst xmlns:a="http://schemas.openxmlformats.org/drawingml/2006/main">
              <a:ext uri="{FF2B5EF4-FFF2-40B4-BE49-F238E27FC236}">
                <a16:creationId xmlns:a16="http://schemas.microsoft.com/office/drawing/2014/main" id="{FC4665CA-B9D8-4DF2-BFFD-818B7D965A73}"/>
              </a:ext>
            </a:extLst>
          </p:cNvPr>
          <p:cNvSpPr>
            <a:spLocks xmlns:a="http://schemas.openxmlformats.org/drawingml/2006/main" noGrp="1"/>
          </p:cNvSpPr>
          <p:nvPr/>
        </p:nvSpPr>
        <p:spPr>
          <a:xfrm xmlns:a="http://schemas.openxmlformats.org/drawingml/2006/main">
            <a:off x="609600" y="5238750"/>
            <a:ext cx="5381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Доля запросов с размеченным</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ответом в первой десятке</a:t>
            </a:r>
          </a:p>
        </p:txBody>
      </p:sp>
      <p:sp>
        <p:nvSpPr>
          <p:cNvPr id="7" name="">
            <a:extLst xmlns:a="http://schemas.openxmlformats.org/drawingml/2006/main">
              <a:ext uri="{FF2B5EF4-FFF2-40B4-BE49-F238E27FC236}">
                <a16:creationId xmlns:a16="http://schemas.microsoft.com/office/drawing/2014/main" id="{6D5483E8-F584-4191-834A-5F128A8ED12C}"/>
              </a:ext>
            </a:extLst>
          </p:cNvPr>
          <p:cNvSpPr>
            <a:spLocks xmlns:a="http://schemas.openxmlformats.org/drawingml/2006/main" noGrp="1"/>
          </p:cNvSpPr>
          <p:nvPr/>
        </p:nvSpPr>
        <p:spPr>
          <a:xfrm xmlns:a="http://schemas.openxmlformats.org/drawingml/2006/main">
            <a:off x="6819900" y="1733550"/>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535"/>
                </a:solidFill>
                <a:latin typeface="DejaVu Sans"/>
                <a:ea typeface="DejaVu Sans"/>
                <a:cs typeface="DejaVu Sans"/>
              </a:defRPr>
            </a:pPr>
            <a:r>
              <a:rPr sz="2850" b="1">
                <a:solidFill>
                  <a:srgbClr val="172535"/>
                </a:solidFill>
                <a:latin typeface="DejaVu Sans"/>
                <a:ea typeface="DejaVu Sans"/>
                <a:cs typeface="DejaVu Sans"/>
              </a:rPr>
              <a:t>1 360 запросов, 86 целей</a:t>
            </a:r>
          </a:p>
        </p:txBody>
      </p:sp>
      <p:sp>
        <p:nvSpPr>
          <p:cNvPr id="8" name="">
            <a:extLst xmlns:a="http://schemas.openxmlformats.org/drawingml/2006/main">
              <a:ext uri="{FF2B5EF4-FFF2-40B4-BE49-F238E27FC236}">
                <a16:creationId xmlns:a16="http://schemas.microsoft.com/office/drawing/2014/main" id="{782BC410-440E-47F4-8AC9-0DA130A2FD9F}"/>
              </a:ext>
            </a:extLst>
          </p:cNvPr>
          <p:cNvSpPr>
            <a:spLocks xmlns:a="http://schemas.openxmlformats.org/drawingml/2006/main" noGrp="1"/>
          </p:cNvSpPr>
          <p:nvPr/>
        </p:nvSpPr>
        <p:spPr>
          <a:xfrm xmlns:a="http://schemas.openxmlformats.org/drawingml/2006/main">
            <a:off x="6819900" y="301942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680 EN и 680 переводов RU</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Кандидаты: весь каталог</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Bootstrap по группам картинок</a:t>
            </a:r>
          </a:p>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Все целевые объекты — стикеры</a:t>
            </a:r>
          </a:p>
        </p:txBody>
      </p:sp>
      <p:sp>
        <p:nvSpPr>
          <p:cNvPr id="9" name="">
            <a:extLst xmlns:a="http://schemas.openxmlformats.org/drawingml/2006/main">
              <a:ext uri="{FF2B5EF4-FFF2-40B4-BE49-F238E27FC236}">
                <a16:creationId xmlns:a16="http://schemas.microsoft.com/office/drawing/2014/main" id="{181D87D3-B4EF-4E8D-8130-1320C22B0CE5}"/>
              </a:ext>
            </a:extLst>
          </p:cNvPr>
          <p:cNvSpPr>
            <a:spLocks xmlns:a="http://schemas.openxmlformats.org/drawingml/2006/main" noGrp="1"/>
          </p:cNvSpPr>
          <p:nvPr/>
        </p:nvSpPr>
        <p:spPr>
          <a:xfrm xmlns:a="http://schemas.openxmlformats.org/drawingml/2006/main">
            <a:off x="609600" y="6334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Test ранее использовался для CLIP. Эпоху SigLIP 2 выбирали только по dev.</a:t>
            </a:r>
          </a:p>
        </p:txBody>
      </p:sp>
    </p:spTree>
    <p:extLst>
      <p:ext uri="{BB962C8B-B14F-4D97-AF65-F5344CB8AC3E}">
        <p14:creationId xmlns:p14="http://schemas.microsoft.com/office/powerpoint/2010/main" val="2354203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9A574C-329F-4E0F-B552-13CB4A568748}"/>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Эпоха 2 дала лучший результат на dev</a:t>
            </a:r>
          </a:p>
        </p:txBody>
      </p:sp>
      <p:sp>
        <p:nvSpPr>
          <p:cNvPr id="2" name="">
            <a:extLst xmlns:a="http://schemas.openxmlformats.org/drawingml/2006/main">
              <a:ext uri="{FF2B5EF4-FFF2-40B4-BE49-F238E27FC236}">
                <a16:creationId xmlns:a16="http://schemas.microsoft.com/office/drawing/2014/main" id="{0065F8FC-01DF-4584-BE1E-CC4D0A68BAFD}"/>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08</a:t>
            </a:r>
          </a:p>
        </p:txBody>
      </p:sp>
      <p:graphicFrame>
        <p:nvGraphicFramePr>
          <p:cNvPr id="10" name="Chart"/>
          <p:cNvGraphicFramePr/>
          <p:nvPr/>
        </p:nvGraphicFramePr>
        <p:xfrm>
          <a:off xmlns:a="http://schemas.openxmlformats.org/drawingml/2006/main" x="523875" y="1543050"/>
          <a:ext xmlns:a="http://schemas.openxmlformats.org/drawingml/2006/main" cx="7600950" cy="4095750"/>
        </p:xfrm>
        <a:graphic xmlns:a="http://schemas.openxmlformats.org/drawingml/2006/main">
          <a:graphicData uri="http://schemas.openxmlformats.org/drawingml/2006/chart">
            <c:chart xmlns:r="http://schemas.openxmlformats.org/officeDocument/2006/relationships" xmlns:c="http://schemas.openxmlformats.org/drawingml/2006/chart" r:id="R97c0362cd8824efb"/>
          </a:graphicData>
        </a:graphic>
      </p:graphicFrame>
      <p:graphicFrame>
        <p:nvGraphicFramePr>
          <p:cNvPr id="11" name=""/>
          <p:cNvGraphicFramePr/>
          <p:nvPr/>
        </p:nvGraphicFramePr>
        <p:xfrm>
          <a:off xmlns:a="http://schemas.openxmlformats.org/drawingml/2006/main" x="8439150" y="1866900"/>
          <a:ext xmlns:a="http://schemas.openxmlformats.org/drawingml/2006/main" cx="3124200" cy="2514600"/>
        </p:xfrm>
        <a:graphic xmlns:a="http://schemas.openxmlformats.org/drawingml/2006/main">
          <a:graphicData uri="http://schemas.openxmlformats.org/drawingml/2006/table">
            <a:tbl>
              <a:tblPr/>
              <a:tblGrid>
                <a:gridCol w="1295400"/>
                <a:gridCol w="1828800"/>
              </a:tblGrid>
              <a:tr h="628650">
                <a:tc>
                  <a:txBody>
                    <a:bodyPr>
                      <a:noAutofit/>
                    </a:bodyPr>
                    <a:lstStyle/>
                    <a:p>
                      <a:r>
                        <a:rPr sz="1800" b="1">
                          <a:solidFill>
                            <a:srgbClr val="FFFFFF"/>
                          </a:solidFill>
                          <a:latin typeface="DejaVu Sans"/>
                          <a:ea typeface="DejaVu Sans"/>
                          <a:cs typeface="DejaVu Sans"/>
                        </a:rPr>
                        <a:t>Эпоха</a:t>
                      </a:r>
                    </a:p>
                  </a:txBody>
                  <a:tcPr marL="91440" marR="91440" marT="45720" marB="45720">
                    <a:solidFill>
                      <a:srgbClr val="172535"/>
                    </a:solidFill>
                  </a:tcPr>
                </a:tc>
                <a:tc>
                  <a:txBody>
                    <a:bodyPr>
                      <a:noAutofit/>
                    </a:bodyPr>
                    <a:lstStyle/>
                    <a:p>
                      <a:r>
                        <a:rPr sz="1800" b="1">
                          <a:solidFill>
                            <a:srgbClr val="FFFFFF"/>
                          </a:solidFill>
                          <a:latin typeface="DejaVu Sans"/>
                          <a:ea typeface="DejaVu Sans"/>
                          <a:cs typeface="DejaVu Sans"/>
                        </a:rPr>
                        <a:t>Train loss</a:t>
                      </a:r>
                    </a:p>
                  </a:txBody>
                  <a:tcPr marL="91440" marR="91440" marT="45720" marB="45720">
                    <a:solidFill>
                      <a:srgbClr val="172535"/>
                    </a:solidFill>
                  </a:tcPr>
                </a:tc>
              </a:tr>
              <a:tr h="628650">
                <a:tc>
                  <a:txBody>
                    <a:bodyPr>
                      <a:noAutofit/>
                    </a:bodyPr>
                    <a:lstStyle/>
                    <a:p>
                      <a:r>
                        <a:rPr sz="1800" b="0">
                          <a:solidFill>
                            <a:srgbClr val="172535"/>
                          </a:solidFill>
                          <a:latin typeface="DejaVu Sans"/>
                          <a:ea typeface="DejaVu Sans"/>
                          <a:cs typeface="DejaVu Sans"/>
                        </a:rPr>
                        <a:t>1</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0,9752</a:t>
                      </a:r>
                    </a:p>
                  </a:txBody>
                  <a:tcPr marL="91440" marR="91440" marT="45720" marB="45720">
                    <a:solidFill>
                      <a:srgbClr val="FFFFFF"/>
                    </a:solidFill>
                  </a:tcPr>
                </a:tc>
              </a:tr>
              <a:tr h="628650">
                <a:tc>
                  <a:txBody>
                    <a:bodyPr>
                      <a:noAutofit/>
                    </a:bodyPr>
                    <a:lstStyle/>
                    <a:p>
                      <a:r>
                        <a:rPr sz="1800" b="0">
                          <a:solidFill>
                            <a:srgbClr val="172535"/>
                          </a:solidFill>
                          <a:latin typeface="DejaVu Sans"/>
                          <a:ea typeface="DejaVu Sans"/>
                          <a:cs typeface="DejaVu Sans"/>
                        </a:rPr>
                        <a:t>2</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0,4260</a:t>
                      </a:r>
                    </a:p>
                  </a:txBody>
                  <a:tcPr marL="91440" marR="91440" marT="45720" marB="45720">
                    <a:solidFill>
                      <a:srgbClr val="F3F4F7"/>
                    </a:solidFill>
                  </a:tcPr>
                </a:tc>
              </a:tr>
              <a:tr h="628650">
                <a:tc>
                  <a:txBody>
                    <a:bodyPr>
                      <a:noAutofit/>
                    </a:bodyPr>
                    <a:lstStyle/>
                    <a:p>
                      <a:r>
                        <a:rPr sz="1800" b="0">
                          <a:solidFill>
                            <a:srgbClr val="172535"/>
                          </a:solidFill>
                          <a:latin typeface="DejaVu Sans"/>
                          <a:ea typeface="DejaVu Sans"/>
                          <a:cs typeface="DejaVu Sans"/>
                        </a:rPr>
                        <a:t>3</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0,2373</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DFCD38E-24F8-466E-B26C-6D1CAD4C5F61}"/>
              </a:ext>
            </a:extLst>
          </p:cNvPr>
          <p:cNvSpPr>
            <a:spLocks xmlns:a="http://schemas.openxmlformats.org/drawingml/2006/main" noGrp="1"/>
          </p:cNvSpPr>
          <p:nvPr/>
        </p:nvSpPr>
        <p:spPr>
          <a:xfrm xmlns:a="http://schemas.openxmlformats.org/drawingml/2006/main">
            <a:off x="657225" y="13049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46273"/>
                </a:solidFill>
                <a:latin typeface="DejaVu Sans"/>
                <a:ea typeface="DejaVu Sans"/>
                <a:cs typeface="DejaVu Sans"/>
              </a:defRPr>
            </a:pPr>
            <a:r>
              <a:rPr sz="1800" b="0">
                <a:solidFill>
                  <a:srgbClr val="546273"/>
                </a:solidFill>
                <a:latin typeface="DejaVu Sans"/>
                <a:ea typeface="DejaVu Sans"/>
                <a:cs typeface="DejaVu Sans"/>
              </a:rPr>
              <a:t>NDCG@5 · среднее EN / RU</a:t>
            </a:r>
          </a:p>
        </p:txBody>
      </p:sp>
      <p:sp>
        <p:nvSpPr>
          <p:cNvPr id="6" name="">
            <a:extLst xmlns:a="http://schemas.openxmlformats.org/drawingml/2006/main">
              <a:ext uri="{FF2B5EF4-FFF2-40B4-BE49-F238E27FC236}">
                <a16:creationId xmlns:a16="http://schemas.microsoft.com/office/drawing/2014/main" id="{72A9007F-C8F4-44A6-B47A-A89F55D02814}"/>
              </a:ext>
            </a:extLst>
          </p:cNvPr>
          <p:cNvSpPr>
            <a:spLocks xmlns:a="http://schemas.openxmlformats.org/drawingml/2006/main" noGrp="1"/>
          </p:cNvSpPr>
          <p:nvPr/>
        </p:nvSpPr>
        <p:spPr>
          <a:xfrm xmlns:a="http://schemas.openxmlformats.org/drawingml/2006/main">
            <a:off x="8420100" y="48006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6F4AD1"/>
                </a:solidFill>
                <a:latin typeface="DejaVu Sans"/>
                <a:ea typeface="DejaVu Sans"/>
                <a:cs typeface="DejaVu Sans"/>
              </a:defRPr>
            </a:pPr>
            <a:r>
              <a:rPr sz="2325" b="1">
                <a:solidFill>
                  <a:srgbClr val="6F4AD1"/>
                </a:solidFill>
                <a:latin typeface="DejaVu Sans"/>
                <a:ea typeface="DejaVu Sans"/>
                <a:cs typeface="DejaVu Sans"/>
              </a:rPr>
              <a:t>Выбор: эпоха 2</a:t>
            </a:r>
          </a:p>
        </p:txBody>
      </p:sp>
      <p:sp>
        <p:nvSpPr>
          <p:cNvPr id="7" name="">
            <a:extLst xmlns:a="http://schemas.openxmlformats.org/drawingml/2006/main">
              <a:ext uri="{FF2B5EF4-FFF2-40B4-BE49-F238E27FC236}">
                <a16:creationId xmlns:a16="http://schemas.microsoft.com/office/drawing/2014/main" id="{7D4F7881-7017-4A66-9F33-0208A20376D3}"/>
              </a:ext>
            </a:extLst>
          </p:cNvPr>
          <p:cNvSpPr>
            <a:spLocks xmlns:a="http://schemas.openxmlformats.org/drawingml/2006/main" noGrp="1"/>
          </p:cNvSpPr>
          <p:nvPr/>
        </p:nvSpPr>
        <p:spPr>
          <a:xfrm xmlns:a="http://schemas.openxmlformats.org/drawingml/2006/main">
            <a:off x="609600" y="6143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Train loss продолжает снижаться, но это не гарантирует улучшения поиска.</a:t>
            </a:r>
          </a:p>
        </p:txBody>
      </p:sp>
    </p:spTree>
    <p:extLst>
      <p:ext uri="{BB962C8B-B14F-4D97-AF65-F5344CB8AC3E}">
        <p14:creationId xmlns:p14="http://schemas.microsoft.com/office/powerpoint/2010/main" val="20383239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0A021C-A5E8-46C2-95A5-90500548BF81}"/>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Улучшение сохранилось на test</a:t>
            </a:r>
          </a:p>
        </p:txBody>
      </p:sp>
      <p:sp>
        <p:nvSpPr>
          <p:cNvPr id="2" name="">
            <a:extLst xmlns:a="http://schemas.openxmlformats.org/drawingml/2006/main">
              <a:ext uri="{FF2B5EF4-FFF2-40B4-BE49-F238E27FC236}">
                <a16:creationId xmlns:a16="http://schemas.microsoft.com/office/drawing/2014/main" id="{99C3AF0B-7BC9-4FCB-A90E-202CE07AAD9E}"/>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09</a:t>
            </a:r>
          </a:p>
        </p:txBody>
      </p:sp>
      <p:graphicFrame>
        <p:nvGraphicFramePr>
          <p:cNvPr id="11" name="Chart"/>
          <p:cNvGraphicFramePr/>
          <p:nvPr/>
        </p:nvGraphicFramePr>
        <p:xfrm>
          <a:off xmlns:a="http://schemas.openxmlformats.org/drawingml/2006/main" x="514350" y="1571625"/>
          <a:ext xmlns:a="http://schemas.openxmlformats.org/drawingml/2006/main" cx="7200900" cy="4162425"/>
        </p:xfrm>
        <a:graphic xmlns:a="http://schemas.openxmlformats.org/drawingml/2006/main">
          <a:graphicData uri="http://schemas.openxmlformats.org/drawingml/2006/chart">
            <c:chart xmlns:r="http://schemas.openxmlformats.org/officeDocument/2006/relationships" xmlns:c="http://schemas.openxmlformats.org/drawingml/2006/chart" r:id="R098eeee9895346eb"/>
          </a:graphicData>
        </a:graphic>
      </p:graphicFrame>
      <p:sp>
        <p:nvSpPr>
          <p:cNvPr id="4" name="">
            <a:extLst xmlns:a="http://schemas.openxmlformats.org/drawingml/2006/main">
              <a:ext uri="{FF2B5EF4-FFF2-40B4-BE49-F238E27FC236}">
                <a16:creationId xmlns:a16="http://schemas.microsoft.com/office/drawing/2014/main" id="{EE7472B8-0702-4F7E-A3B6-18E071CD7040}"/>
              </a:ext>
            </a:extLst>
          </p:cNvPr>
          <p:cNvSpPr>
            <a:spLocks xmlns:a="http://schemas.openxmlformats.org/drawingml/2006/main" noGrp="1"/>
          </p:cNvSpPr>
          <p:nvPr/>
        </p:nvSpPr>
        <p:spPr>
          <a:xfrm xmlns:a="http://schemas.openxmlformats.org/drawingml/2006/main">
            <a:off x="657225" y="13049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46273"/>
                </a:solidFill>
                <a:latin typeface="DejaVu Sans"/>
                <a:ea typeface="DejaVu Sans"/>
                <a:cs typeface="DejaVu Sans"/>
              </a:defRPr>
            </a:pPr>
            <a:r>
              <a:rPr sz="1800" b="0">
                <a:solidFill>
                  <a:srgbClr val="546273"/>
                </a:solidFill>
                <a:latin typeface="DejaVu Sans"/>
                <a:ea typeface="DejaVu Sans"/>
                <a:cs typeface="DejaVu Sans"/>
              </a:rPr>
              <a:t>NDCG@5</a:t>
            </a:r>
          </a:p>
        </p:txBody>
      </p:sp>
      <p:graphicFrame>
        <p:nvGraphicFramePr>
          <p:cNvPr id="13" name=""/>
          <p:cNvGraphicFramePr/>
          <p:nvPr/>
        </p:nvGraphicFramePr>
        <p:xfrm>
          <a:off xmlns:a="http://schemas.openxmlformats.org/drawingml/2006/main" x="8039100" y="1762125"/>
          <a:ext xmlns:a="http://schemas.openxmlformats.org/drawingml/2006/main" cx="3524250" cy="1971675"/>
        </p:xfrm>
        <a:graphic xmlns:a="http://schemas.openxmlformats.org/drawingml/2006/main">
          <a:graphicData uri="http://schemas.openxmlformats.org/drawingml/2006/table">
            <a:tbl>
              <a:tblPr/>
              <a:tblGrid>
                <a:gridCol w="1123950"/>
                <a:gridCol w="1200150"/>
                <a:gridCol w="1200150"/>
              </a:tblGrid>
              <a:tr h="657225">
                <a:tc>
                  <a:txBody>
                    <a:bodyPr>
                      <a:noAutofit/>
                    </a:bodyPr>
                    <a:lstStyle/>
                    <a:p>
                      <a:r>
                        <a:rPr sz="1800" b="1">
                          <a:solidFill>
                            <a:srgbClr val="FFFFFF"/>
                          </a:solidFill>
                          <a:latin typeface="DejaVu Sans"/>
                          <a:ea typeface="DejaVu Sans"/>
                          <a:cs typeface="DejaVu Sans"/>
                        </a:rPr>
                        <a:t>Hit@10</a:t>
                      </a:r>
                    </a:p>
                  </a:txBody>
                  <a:tcPr marL="91440" marR="91440" marT="45720" marB="45720">
                    <a:solidFill>
                      <a:srgbClr val="172535"/>
                    </a:solidFill>
                  </a:tcPr>
                </a:tc>
                <a:tc>
                  <a:txBody>
                    <a:bodyPr>
                      <a:noAutofit/>
                    </a:bodyPr>
                    <a:lstStyle/>
                    <a:p>
                      <a:r>
                        <a:rPr sz="1800" b="1">
                          <a:solidFill>
                            <a:srgbClr val="FFFFFF"/>
                          </a:solidFill>
                          <a:latin typeface="DejaVu Sans"/>
                          <a:ea typeface="DejaVu Sans"/>
                          <a:cs typeface="DejaVu Sans"/>
                        </a:rPr>
                        <a:t>До</a:t>
                      </a:r>
                    </a:p>
                  </a:txBody>
                  <a:tcPr marL="91440" marR="91440" marT="45720" marB="45720">
                    <a:solidFill>
                      <a:srgbClr val="172535"/>
                    </a:solidFill>
                  </a:tcPr>
                </a:tc>
                <a:tc>
                  <a:txBody>
                    <a:bodyPr>
                      <a:noAutofit/>
                    </a:bodyPr>
                    <a:lstStyle/>
                    <a:p>
                      <a:r>
                        <a:rPr sz="1800" b="1">
                          <a:solidFill>
                            <a:srgbClr val="FFFFFF"/>
                          </a:solidFill>
                          <a:latin typeface="DejaVu Sans"/>
                          <a:ea typeface="DejaVu Sans"/>
                          <a:cs typeface="DejaVu Sans"/>
                        </a:rPr>
                        <a:t>После</a:t>
                      </a:r>
                    </a:p>
                  </a:txBody>
                  <a:tcPr marL="91440" marR="91440" marT="45720" marB="45720">
                    <a:solidFill>
                      <a:srgbClr val="172535"/>
                    </a:solidFill>
                  </a:tcPr>
                </a:tc>
              </a:tr>
              <a:tr h="657225">
                <a:tc>
                  <a:txBody>
                    <a:bodyPr>
                      <a:noAutofit/>
                    </a:bodyPr>
                    <a:lstStyle/>
                    <a:p>
                      <a:r>
                        <a:rPr sz="1800" b="0">
                          <a:solidFill>
                            <a:srgbClr val="172535"/>
                          </a:solidFill>
                          <a:latin typeface="DejaVu Sans"/>
                          <a:ea typeface="DejaVu Sans"/>
                          <a:cs typeface="DejaVu Sans"/>
                        </a:rPr>
                        <a:t>EN</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8,38%</a:t>
                      </a:r>
                    </a:p>
                  </a:txBody>
                  <a:tcPr marL="91440" marR="91440" marT="45720" marB="45720">
                    <a:solidFill>
                      <a:srgbClr val="FFFFFF"/>
                    </a:solidFill>
                  </a:tcPr>
                </a:tc>
                <a:tc>
                  <a:txBody>
                    <a:bodyPr>
                      <a:noAutofit/>
                    </a:bodyPr>
                    <a:lstStyle/>
                    <a:p>
                      <a:r>
                        <a:rPr sz="1800" b="0">
                          <a:solidFill>
                            <a:srgbClr val="172535"/>
                          </a:solidFill>
                          <a:latin typeface="DejaVu Sans"/>
                          <a:ea typeface="DejaVu Sans"/>
                          <a:cs typeface="DejaVu Sans"/>
                        </a:rPr>
                        <a:t>17,94%</a:t>
                      </a:r>
                    </a:p>
                  </a:txBody>
                  <a:tcPr marL="91440" marR="91440" marT="45720" marB="45720">
                    <a:solidFill>
                      <a:srgbClr val="FFFFFF"/>
                    </a:solidFill>
                  </a:tcPr>
                </a:tc>
              </a:tr>
              <a:tr h="657225">
                <a:tc>
                  <a:txBody>
                    <a:bodyPr>
                      <a:noAutofit/>
                    </a:bodyPr>
                    <a:lstStyle/>
                    <a:p>
                      <a:r>
                        <a:rPr sz="1800" b="0">
                          <a:solidFill>
                            <a:srgbClr val="172535"/>
                          </a:solidFill>
                          <a:latin typeface="DejaVu Sans"/>
                          <a:ea typeface="DejaVu Sans"/>
                          <a:cs typeface="DejaVu Sans"/>
                        </a:rPr>
                        <a:t>RU</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2,79%</a:t>
                      </a:r>
                    </a:p>
                  </a:txBody>
                  <a:tcPr marL="91440" marR="91440" marT="45720" marB="45720">
                    <a:solidFill>
                      <a:srgbClr val="F3F4F7"/>
                    </a:solidFill>
                  </a:tcPr>
                </a:tc>
                <a:tc>
                  <a:txBody>
                    <a:bodyPr>
                      <a:noAutofit/>
                    </a:bodyPr>
                    <a:lstStyle/>
                    <a:p>
                      <a:r>
                        <a:rPr sz="1800" b="0">
                          <a:solidFill>
                            <a:srgbClr val="172535"/>
                          </a:solidFill>
                          <a:latin typeface="DejaVu Sans"/>
                          <a:ea typeface="DejaVu Sans"/>
                          <a:cs typeface="DejaVu Sans"/>
                        </a:rPr>
                        <a:t>12,50%</a:t>
                      </a:r>
                    </a:p>
                  </a:txBody>
                  <a:tcPr marL="91440" marR="91440" marT="45720" marB="45720">
                    <a:solidFill>
                      <a:srgbClr val="F3F4F7"/>
                    </a:solidFill>
                  </a:tcPr>
                </a:tc>
              </a:tr>
            </a:tbl>
          </a:graphicData>
        </a:graphic>
      </p:graphicFrame>
      <p:sp>
        <p:nvSpPr>
          <p:cNvPr id="6" name="">
            <a:extLst xmlns:a="http://schemas.openxmlformats.org/drawingml/2006/main">
              <a:ext uri="{FF2B5EF4-FFF2-40B4-BE49-F238E27FC236}">
                <a16:creationId xmlns:a16="http://schemas.microsoft.com/office/drawing/2014/main" id="{4AB2DD45-FA29-430F-B439-4B1DF9A74E04}"/>
              </a:ext>
            </a:extLst>
          </p:cNvPr>
          <p:cNvSpPr>
            <a:spLocks xmlns:a="http://schemas.openxmlformats.org/drawingml/2006/main" noGrp="1"/>
          </p:cNvSpPr>
          <p:nvPr/>
        </p:nvSpPr>
        <p:spPr>
          <a:xfrm xmlns:a="http://schemas.openxmlformats.org/drawingml/2006/main">
            <a:off x="8039100" y="4295775"/>
            <a:ext cx="3676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6F4AD1"/>
                </a:solidFill>
                <a:latin typeface="DejaVu Sans"/>
                <a:ea typeface="DejaVu Sans"/>
                <a:cs typeface="DejaVu Sans"/>
              </a:defRPr>
            </a:pPr>
            <a:r>
              <a:rPr sz="2850" b="1">
                <a:solidFill>
                  <a:srgbClr val="6F4AD1"/>
                </a:solidFill>
                <a:latin typeface="DejaVu Sans"/>
                <a:ea typeface="DejaVu Sans"/>
                <a:cs typeface="DejaVu Sans"/>
              </a:rPr>
              <a:t>×4,43 на русском</a:t>
            </a:r>
          </a:p>
        </p:txBody>
      </p:sp>
      <p:sp>
        <p:nvSpPr>
          <p:cNvPr id="7" name="">
            <a:extLst xmlns:a="http://schemas.openxmlformats.org/drawingml/2006/main">
              <a:ext uri="{FF2B5EF4-FFF2-40B4-BE49-F238E27FC236}">
                <a16:creationId xmlns:a16="http://schemas.microsoft.com/office/drawing/2014/main" id="{7D4AF7D0-4BF7-4346-94B4-7712A3EFFCFF}"/>
              </a:ext>
            </a:extLst>
          </p:cNvPr>
          <p:cNvSpPr>
            <a:spLocks xmlns:a="http://schemas.openxmlformats.org/drawingml/2006/main" noGrp="1"/>
          </p:cNvSpPr>
          <p:nvPr/>
        </p:nvSpPr>
        <p:spPr>
          <a:xfrm xmlns:a="http://schemas.openxmlformats.org/drawingml/2006/main">
            <a:off x="8039100" y="5343525"/>
            <a:ext cx="3476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Рост NDCG@5</a:t>
            </a:r>
          </a:p>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после дообучения</a:t>
            </a:r>
          </a:p>
        </p:txBody>
      </p:sp>
      <p:sp>
        <p:nvSpPr>
          <p:cNvPr id="8" name="">
            <a:extLst xmlns:a="http://schemas.openxmlformats.org/drawingml/2006/main">
              <a:ext uri="{FF2B5EF4-FFF2-40B4-BE49-F238E27FC236}">
                <a16:creationId xmlns:a16="http://schemas.microsoft.com/office/drawing/2014/main" id="{7B266BB9-3A41-4C2C-A898-ACE3B1CBCA14}"/>
              </a:ext>
            </a:extLst>
          </p:cNvPr>
          <p:cNvSpPr>
            <a:spLocks xmlns:a="http://schemas.openxmlformats.org/drawingml/2006/main" noGrp="1"/>
          </p:cNvSpPr>
          <p:nvPr/>
        </p:nvSpPr>
        <p:spPr>
          <a:xfrm xmlns:a="http://schemas.openxmlformats.org/drawingml/2006/main">
            <a:off x="60960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95% интервал прироста NDCG@5: EN [+0,0116; +0,0769], RU [+0,0267; +0,0786].</a:t>
            </a:r>
          </a:p>
        </p:txBody>
      </p:sp>
    </p:spTree>
    <p:extLst>
      <p:ext uri="{BB962C8B-B14F-4D97-AF65-F5344CB8AC3E}">
        <p14:creationId xmlns:p14="http://schemas.microsoft.com/office/powerpoint/2010/main" val="16775060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8065E5-F9E4-4EEE-8D73-970C0FDC73A7}"/>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Успехи и ошибки поиска</a:t>
            </a:r>
          </a:p>
        </p:txBody>
      </p:sp>
      <p:sp>
        <p:nvSpPr>
          <p:cNvPr id="2" name="">
            <a:extLst xmlns:a="http://schemas.openxmlformats.org/drawingml/2006/main">
              <a:ext uri="{FF2B5EF4-FFF2-40B4-BE49-F238E27FC236}">
                <a16:creationId xmlns:a16="http://schemas.microsoft.com/office/drawing/2014/main" id="{79C3D16D-578F-4F3E-9B87-0621ED757756}"/>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B5F2450B-A4CB-4424-823E-7AA1B0FCE2E3}"/>
              </a:ext>
            </a:extLst>
          </p:cNvPr>
          <p:cNvSpPr>
            <a:spLocks xmlns:a="http://schemas.openxmlformats.org/drawingml/2006/main" noGrp="1"/>
          </p:cNvSpPr>
          <p:nvPr/>
        </p:nvSpPr>
        <p:spPr>
          <a:xfrm xmlns:a="http://schemas.openxmlformats.org/drawingml/2006/main">
            <a:off x="609600" y="1495425"/>
            <a:ext cx="5219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6F4AD1"/>
                </a:solidFill>
                <a:latin typeface="DejaVu Sans"/>
                <a:ea typeface="DejaVu Sans"/>
                <a:cs typeface="DejaVu Sans"/>
              </a:defRPr>
            </a:pPr>
            <a:r>
              <a:rPr sz="2325" b="1">
                <a:solidFill>
                  <a:srgbClr val="6F4AD1"/>
                </a:solidFill>
                <a:latin typeface="DejaVu Sans"/>
                <a:ea typeface="DejaVu Sans"/>
                <a:cs typeface="DejaVu Sans"/>
              </a:rPr>
              <a:t>square emoji sleepy</a:t>
            </a:r>
          </a:p>
        </p:txBody>
      </p:sp>
      <p:sp>
        <p:nvSpPr>
          <p:cNvPr id="4" name="">
            <a:extLst xmlns:a="http://schemas.openxmlformats.org/drawingml/2006/main">
              <a:ext uri="{FF2B5EF4-FFF2-40B4-BE49-F238E27FC236}">
                <a16:creationId xmlns:a16="http://schemas.microsoft.com/office/drawing/2014/main" id="{3CEB8630-9B0F-41EE-8330-7365B8278386}"/>
              </a:ext>
            </a:extLst>
          </p:cNvPr>
          <p:cNvSpPr>
            <a:spLocks xmlns:a="http://schemas.openxmlformats.org/drawingml/2006/main" noGrp="1"/>
          </p:cNvSpPr>
          <p:nvPr/>
        </p:nvSpPr>
        <p:spPr>
          <a:xfrm xmlns:a="http://schemas.openxmlformats.org/drawingml/2006/main">
            <a:off x="609600" y="2076450"/>
            <a:ext cx="2543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46273"/>
                </a:solidFill>
                <a:latin typeface="DejaVu Sans"/>
                <a:ea typeface="DejaVu Sans"/>
                <a:cs typeface="DejaVu Sans"/>
              </a:defRPr>
            </a:pPr>
            <a:r>
              <a:rPr sz="1650" b="0">
                <a:solidFill>
                  <a:srgbClr val="546273"/>
                </a:solidFill>
                <a:latin typeface="DejaVu Sans"/>
                <a:ea typeface="DejaVu Sans"/>
                <a:cs typeface="DejaVu Sans"/>
              </a:rPr>
              <a:t>До: первая картинка</a:t>
            </a:r>
          </a:p>
        </p:txBody>
      </p:sp>
      <p:sp>
        <p:nvSpPr>
          <p:cNvPr id="5" name="">
            <a:extLst xmlns:a="http://schemas.openxmlformats.org/drawingml/2006/main">
              <a:ext uri="{FF2B5EF4-FFF2-40B4-BE49-F238E27FC236}">
                <a16:creationId xmlns:a16="http://schemas.microsoft.com/office/drawing/2014/main" id="{43B8A239-EB7B-4F6C-B1EC-FB2731CF199D}"/>
              </a:ext>
            </a:extLst>
          </p:cNvPr>
          <p:cNvSpPr>
            <a:spLocks xmlns:a="http://schemas.openxmlformats.org/drawingml/2006/main" noGrp="1"/>
          </p:cNvSpPr>
          <p:nvPr/>
        </p:nvSpPr>
        <p:spPr>
          <a:xfrm xmlns:a="http://schemas.openxmlformats.org/drawingml/2006/main">
            <a:off x="3390900" y="2076450"/>
            <a:ext cx="2562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46273"/>
                </a:solidFill>
                <a:latin typeface="DejaVu Sans"/>
                <a:ea typeface="DejaVu Sans"/>
                <a:cs typeface="DejaVu Sans"/>
              </a:defRPr>
            </a:pPr>
            <a:r>
              <a:rPr sz="1650" b="0">
                <a:solidFill>
                  <a:srgbClr val="546273"/>
                </a:solidFill>
                <a:latin typeface="DejaVu Sans"/>
                <a:ea typeface="DejaVu Sans"/>
                <a:cs typeface="DejaVu Sans"/>
              </a:rPr>
              <a:t>После: правильная цель</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bb5a7292732434a"/>
          <a:stretch xmlns:a="http://schemas.openxmlformats.org/drawingml/2006/main"/>
        </p:blipFill>
        <p:spPr>
          <a:xfrm xmlns:a="http://schemas.openxmlformats.org/drawingml/2006/main">
            <a:off x="742950" y="2676525"/>
            <a:ext cx="2066925" cy="206692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0a44ce393ee456e"/>
          <a:stretch xmlns:a="http://schemas.openxmlformats.org/drawingml/2006/main"/>
        </p:blipFill>
        <p:spPr>
          <a:xfrm xmlns:a="http://schemas.openxmlformats.org/drawingml/2006/main">
            <a:off x="3481388" y="2676525"/>
            <a:ext cx="2066925" cy="20669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86F2EE0-61DD-48B6-851B-06AE35750E3A}"/>
              </a:ext>
            </a:extLst>
          </p:cNvPr>
          <p:cNvSpPr>
            <a:spLocks xmlns:a="http://schemas.openxmlformats.org/drawingml/2006/main" noGrp="1"/>
          </p:cNvSpPr>
          <p:nvPr/>
        </p:nvSpPr>
        <p:spPr>
          <a:xfrm xmlns:a="http://schemas.openxmlformats.org/drawingml/2006/main">
            <a:off x="609600" y="5086350"/>
            <a:ext cx="5238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Правильный ответ поднялся</a:t>
            </a:r>
          </a:p>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из-за пределов топ-10 на первое место</a:t>
            </a:r>
          </a:p>
        </p:txBody>
      </p:sp>
      <p:sp>
        <p:nvSpPr>
          <p:cNvPr id="9" name="">
            <a:extLst xmlns:a="http://schemas.openxmlformats.org/drawingml/2006/main">
              <a:ext uri="{FF2B5EF4-FFF2-40B4-BE49-F238E27FC236}">
                <a16:creationId xmlns:a16="http://schemas.microsoft.com/office/drawing/2014/main" id="{2A10A69B-5E24-402D-B1D7-7F3B3271FDA9}"/>
              </a:ext>
            </a:extLst>
          </p:cNvPr>
          <p:cNvSpPr>
            <a:spLocks xmlns:a="http://schemas.openxmlformats.org/drawingml/2006/main" noGrp="1"/>
          </p:cNvSpPr>
          <p:nvPr/>
        </p:nvSpPr>
        <p:spPr>
          <a:xfrm xmlns:a="http://schemas.openxmlformats.org/drawingml/2006/main">
            <a:off x="6638925" y="149542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B94C56"/>
                </a:solidFill>
                <a:latin typeface="DejaVu Sans"/>
                <a:ea typeface="DejaVu Sans"/>
                <a:cs typeface="DejaVu Sans"/>
              </a:defRPr>
            </a:pPr>
            <a:r>
              <a:rPr sz="2325" b="1">
                <a:solidFill>
                  <a:srgbClr val="B94C56"/>
                </a:solidFill>
                <a:latin typeface="DejaVu Sans"/>
                <a:ea typeface="DejaVu Sans"/>
                <a:cs typeface="DejaVu Sans"/>
              </a:rPr>
              <a:t>lying on mochi</a:t>
            </a:r>
          </a:p>
        </p:txBody>
      </p:sp>
      <p:sp>
        <p:nvSpPr>
          <p:cNvPr id="10" name="">
            <a:extLst xmlns:a="http://schemas.openxmlformats.org/drawingml/2006/main">
              <a:ext uri="{FF2B5EF4-FFF2-40B4-BE49-F238E27FC236}">
                <a16:creationId xmlns:a16="http://schemas.microsoft.com/office/drawing/2014/main" id="{6C70E366-F1E9-4D70-AE5A-6B98D1DEF287}"/>
              </a:ext>
            </a:extLst>
          </p:cNvPr>
          <p:cNvSpPr>
            <a:spLocks xmlns:a="http://schemas.openxmlformats.org/drawingml/2006/main" noGrp="1"/>
          </p:cNvSpPr>
          <p:nvPr/>
        </p:nvSpPr>
        <p:spPr>
          <a:xfrm xmlns:a="http://schemas.openxmlformats.org/drawingml/2006/main">
            <a:off x="6638925" y="2076450"/>
            <a:ext cx="236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46273"/>
                </a:solidFill>
                <a:latin typeface="DejaVu Sans"/>
                <a:ea typeface="DejaVu Sans"/>
                <a:cs typeface="DejaVu Sans"/>
              </a:defRPr>
            </a:pPr>
            <a:r>
              <a:rPr sz="1650" b="0">
                <a:solidFill>
                  <a:srgbClr val="546273"/>
                </a:solidFill>
                <a:latin typeface="DejaVu Sans"/>
                <a:ea typeface="DejaVu Sans"/>
                <a:cs typeface="DejaVu Sans"/>
              </a:rPr>
              <a:t>Правильная цель</a:t>
            </a:r>
          </a:p>
        </p:txBody>
      </p:sp>
      <p:sp>
        <p:nvSpPr>
          <p:cNvPr id="11" name="">
            <a:extLst xmlns:a="http://schemas.openxmlformats.org/drawingml/2006/main">
              <a:ext uri="{FF2B5EF4-FFF2-40B4-BE49-F238E27FC236}">
                <a16:creationId xmlns:a16="http://schemas.microsoft.com/office/drawing/2014/main" id="{A477F7AC-7085-4228-A084-59F7E6CC5AD3}"/>
              </a:ext>
            </a:extLst>
          </p:cNvPr>
          <p:cNvSpPr>
            <a:spLocks xmlns:a="http://schemas.openxmlformats.org/drawingml/2006/main" noGrp="1"/>
          </p:cNvSpPr>
          <p:nvPr/>
        </p:nvSpPr>
        <p:spPr>
          <a:xfrm xmlns:a="http://schemas.openxmlformats.org/drawingml/2006/main">
            <a:off x="9239250" y="2076450"/>
            <a:ext cx="2486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46273"/>
                </a:solidFill>
                <a:latin typeface="DejaVu Sans"/>
                <a:ea typeface="DejaVu Sans"/>
                <a:cs typeface="DejaVu Sans"/>
              </a:defRPr>
            </a:pPr>
            <a:r>
              <a:rPr sz="1650" b="0">
                <a:solidFill>
                  <a:srgbClr val="546273"/>
                </a:solidFill>
                <a:latin typeface="DejaVu Sans"/>
                <a:ea typeface="DejaVu Sans"/>
                <a:cs typeface="DejaVu Sans"/>
              </a:rPr>
              <a:t>После: первая картинка</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adc6100cbc64e3a"/>
          <a:stretch xmlns:a="http://schemas.openxmlformats.org/drawingml/2006/main"/>
        </p:blipFill>
        <p:spPr>
          <a:xfrm xmlns:a="http://schemas.openxmlformats.org/drawingml/2006/main">
            <a:off x="6729413" y="2676525"/>
            <a:ext cx="2066925" cy="206692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1f82eed748b440c"/>
          <a:stretch xmlns:a="http://schemas.openxmlformats.org/drawingml/2006/main"/>
        </p:blipFill>
        <p:spPr>
          <a:xfrm xmlns:a="http://schemas.openxmlformats.org/drawingml/2006/main">
            <a:off x="9324975" y="2676525"/>
            <a:ext cx="2066925" cy="20669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D727F9C-26D4-4144-A664-6DA8E41F4C98}"/>
              </a:ext>
            </a:extLst>
          </p:cNvPr>
          <p:cNvSpPr>
            <a:spLocks xmlns:a="http://schemas.openxmlformats.org/drawingml/2006/main" noGrp="1"/>
          </p:cNvSpPr>
          <p:nvPr/>
        </p:nvSpPr>
        <p:spPr>
          <a:xfrm xmlns:a="http://schemas.openxmlformats.org/drawingml/2006/main">
            <a:off x="6638925" y="5086350"/>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Поза сохранилась, объект потерялся</a:t>
            </a:r>
          </a:p>
          <a:p xmlns:a="http://schemas.openxmlformats.org/drawingml/2006/main">
            <a:pPr>
              <a:defRPr sz="1950" b="0">
                <a:solidFill>
                  <a:srgbClr val="172535"/>
                </a:solidFill>
                <a:latin typeface="DejaVu Sans"/>
                <a:ea typeface="DejaVu Sans"/>
                <a:cs typeface="DejaVu Sans"/>
              </a:defRPr>
            </a:pPr>
            <a:r>
              <a:rPr sz="1950" b="0">
                <a:solidFill>
                  <a:srgbClr val="172535"/>
                </a:solidFill>
                <a:latin typeface="DejaVu Sans"/>
                <a:ea typeface="DejaVu Sans"/>
                <a:cs typeface="DejaVu Sans"/>
              </a:rPr>
              <a:t>Цель: 3-е место до, вне топ-5 после</a:t>
            </a:r>
          </a:p>
        </p:txBody>
      </p:sp>
      <p:sp>
        <p:nvSpPr>
          <p:cNvPr id="15" name="">
            <a:extLst xmlns:a="http://schemas.openxmlformats.org/drawingml/2006/main">
              <a:ext uri="{FF2B5EF4-FFF2-40B4-BE49-F238E27FC236}">
                <a16:creationId xmlns:a16="http://schemas.microsoft.com/office/drawing/2014/main" id="{E5535070-2A10-48E9-8515-F735E25A6833}"/>
              </a:ext>
            </a:extLst>
          </p:cNvPr>
          <p:cNvSpPr>
            <a:spLocks xmlns:a="http://schemas.openxmlformats.org/drawingml/2006/main" noGrp="1"/>
          </p:cNvSpPr>
          <p:nvPr/>
        </p:nvSpPr>
        <p:spPr>
          <a:xfrm xmlns:a="http://schemas.openxmlformats.org/drawingml/2006/main">
            <a:off x="609600" y="63627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Примеры с dev, выбранные для разбора. Неполная разметка не объясняет все ошибки.</a:t>
            </a:r>
          </a:p>
        </p:txBody>
      </p:sp>
    </p:spTree>
    <p:extLst>
      <p:ext uri="{BB962C8B-B14F-4D97-AF65-F5344CB8AC3E}">
        <p14:creationId xmlns:p14="http://schemas.microsoft.com/office/powerpoint/2010/main" val="857112146"/>
      </p:ext>
    </p:extLst>
  </p:cSld>
</p:sld>
</file>

<file path=ppt/slides/slide11.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FF1C9A-3CD9-447D-BE2F-28B79D3777DA}"/>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Генерация и удаление фона</a:t>
            </a:r>
          </a:p>
        </p:txBody>
      </p:sp>
      <p:sp>
        <p:nvSpPr>
          <p:cNvPr id="2" name="">
            <a:extLst xmlns:a="http://schemas.openxmlformats.org/drawingml/2006/main">
              <a:ext uri="{FF2B5EF4-FFF2-40B4-BE49-F238E27FC236}">
                <a16:creationId xmlns:a16="http://schemas.microsoft.com/office/drawing/2014/main" id="{4FB1DFF4-891F-446D-A4DB-7F40898B8D60}"/>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EC89DEAB-6C64-4D9C-94D2-453D09FEDA36}"/>
              </a:ext>
            </a:extLst>
          </p:cNvPr>
          <p:cNvSpPr>
            <a:spLocks xmlns:a="http://schemas.openxmlformats.org/drawingml/2006/main" noGrp="1"/>
          </p:cNvSpPr>
          <p:nvPr/>
        </p:nvSpPr>
        <p:spPr>
          <a:xfrm xmlns:a="http://schemas.openxmlformats.org/drawingml/2006/main">
            <a:off x="609600" y="1457325"/>
            <a:ext cx="5114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6F4AD1"/>
                </a:solidFill>
                <a:latin typeface="DejaVu Sans"/>
                <a:ea typeface="DejaVu Sans"/>
                <a:cs typeface="DejaVu Sans"/>
              </a:defRPr>
            </a:pPr>
            <a:r>
              <a:rPr sz="2550" b="1">
                <a:solidFill>
                  <a:srgbClr val="6F4AD1"/>
                </a:solidFill>
                <a:latin typeface="DejaVu Sans"/>
                <a:ea typeface="DejaVu Sans"/>
                <a:cs typeface="DejaVu Sans"/>
              </a:rPr>
              <a:t>1. FLUX.1-schnell</a:t>
            </a:r>
          </a:p>
        </p:txBody>
      </p:sp>
      <p:sp>
        <p:nvSpPr>
          <p:cNvPr id="4" name="">
            <a:extLst xmlns:a="http://schemas.openxmlformats.org/drawingml/2006/main">
              <a:ext uri="{FF2B5EF4-FFF2-40B4-BE49-F238E27FC236}">
                <a16:creationId xmlns:a16="http://schemas.microsoft.com/office/drawing/2014/main" id="{1CFF45FF-1288-4068-9B1E-4BCE2E20CD56}"/>
              </a:ext>
            </a:extLst>
          </p:cNvPr>
          <p:cNvSpPr>
            <a:spLocks xmlns:a="http://schemas.openxmlformats.org/drawingml/2006/main" noGrp="1"/>
          </p:cNvSpPr>
          <p:nvPr/>
        </p:nvSpPr>
        <p:spPr>
          <a:xfrm xmlns:a="http://schemas.openxmlformats.org/drawingml/2006/main">
            <a:off x="609600" y="2066925"/>
            <a:ext cx="5038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Исходное изображение</a:t>
            </a:r>
          </a:p>
        </p:txBody>
      </p:sp>
      <p:sp>
        <p:nvSpPr>
          <p:cNvPr id="5" name="">
            <a:extLst xmlns:a="http://schemas.openxmlformats.org/drawingml/2006/main">
              <a:ext uri="{FF2B5EF4-FFF2-40B4-BE49-F238E27FC236}">
                <a16:creationId xmlns:a16="http://schemas.microsoft.com/office/drawing/2014/main" id="{7488681F-5172-410C-9F30-FEDA0AEE84CA}"/>
              </a:ext>
            </a:extLst>
          </p:cNvPr>
          <p:cNvSpPr>
            <a:spLocks xmlns:a="http://schemas.openxmlformats.org/drawingml/2006/main" noGrp="1"/>
          </p:cNvSpPr>
          <p:nvPr/>
        </p:nvSpPr>
        <p:spPr>
          <a:xfrm xmlns:a="http://schemas.openxmlformats.org/drawingml/2006/main">
            <a:off x="6638925" y="14573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217B8C"/>
                </a:solidFill>
                <a:latin typeface="DejaVu Sans"/>
                <a:ea typeface="DejaVu Sans"/>
                <a:cs typeface="DejaVu Sans"/>
              </a:defRPr>
            </a:pPr>
            <a:r>
              <a:rPr sz="2550" b="1">
                <a:solidFill>
                  <a:srgbClr val="217B8C"/>
                </a:solidFill>
                <a:latin typeface="DejaVu Sans"/>
                <a:ea typeface="DejaVu Sans"/>
                <a:cs typeface="DejaVu Sans"/>
              </a:rPr>
              <a:t>2. U²-Net через rembg</a:t>
            </a:r>
          </a:p>
        </p:txBody>
      </p:sp>
      <p:sp>
        <p:nvSpPr>
          <p:cNvPr id="6" name="">
            <a:extLst xmlns:a="http://schemas.openxmlformats.org/drawingml/2006/main">
              <a:ext uri="{FF2B5EF4-FFF2-40B4-BE49-F238E27FC236}">
                <a16:creationId xmlns:a16="http://schemas.microsoft.com/office/drawing/2014/main" id="{C912B808-B43C-4EE6-8F09-BCB399CB8BE2}"/>
              </a:ext>
            </a:extLst>
          </p:cNvPr>
          <p:cNvSpPr>
            <a:spLocks xmlns:a="http://schemas.openxmlformats.org/drawingml/2006/main" noGrp="1"/>
          </p:cNvSpPr>
          <p:nvPr/>
        </p:nvSpPr>
        <p:spPr>
          <a:xfrm xmlns:a="http://schemas.openxmlformats.org/drawingml/2006/main">
            <a:off x="6638925" y="2066925"/>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535"/>
                </a:solidFill>
                <a:latin typeface="DejaVu Sans"/>
                <a:ea typeface="DejaVu Sans"/>
                <a:cs typeface="DejaVu Sans"/>
              </a:defRPr>
            </a:pPr>
            <a:r>
              <a:rPr sz="2025" b="0">
                <a:solidFill>
                  <a:srgbClr val="172535"/>
                </a:solidFill>
                <a:latin typeface="DejaVu Sans"/>
                <a:ea typeface="DejaVu Sans"/>
                <a:cs typeface="DejaVu Sans"/>
              </a:rPr>
              <a:t>Отдельный PNG с прозрачностью</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4d235f7bbe043c8"/>
          <a:stretch xmlns:a="http://schemas.openxmlformats.org/drawingml/2006/main"/>
        </p:blipFill>
        <p:spPr>
          <a:xfrm xmlns:a="http://schemas.openxmlformats.org/drawingml/2006/main">
            <a:off x="1462088" y="2609850"/>
            <a:ext cx="2952750" cy="29527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09c1b74ecd4814"/>
          <a:stretch xmlns:a="http://schemas.openxmlformats.org/drawingml/2006/main"/>
        </p:blipFill>
        <p:spPr>
          <a:xfrm xmlns:a="http://schemas.openxmlformats.org/drawingml/2006/main">
            <a:off x="7643813" y="2609850"/>
            <a:ext cx="2952750" cy="2952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2000F3B-2291-4F83-A99F-43776BD6DA15}"/>
              </a:ext>
            </a:extLst>
          </p:cNvPr>
          <p:cNvSpPr>
            <a:spLocks xmlns:a="http://schemas.openxmlformats.org/drawingml/2006/main" noGrp="1"/>
          </p:cNvSpPr>
          <p:nvPr/>
        </p:nvSpPr>
        <p:spPr>
          <a:xfrm xmlns:a="http://schemas.openxmlformats.org/drawingml/2006/main">
            <a:off x="609600" y="5610225"/>
            <a:ext cx="5305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535"/>
                </a:solidFill>
                <a:latin typeface="DejaVu Sans"/>
                <a:ea typeface="DejaVu Sans"/>
                <a:cs typeface="DejaVu Sans"/>
              </a:defRPr>
            </a:pPr>
            <a:r>
              <a:rPr sz="1800" b="0">
                <a:solidFill>
                  <a:srgbClr val="172535"/>
                </a:solidFill>
                <a:latin typeface="DejaVu Sans"/>
                <a:ea typeface="DejaVu Sans"/>
                <a:cs typeface="DejaVu Sans"/>
              </a:rPr>
              <a:t>4 шага генерации, 768 × 768</a:t>
            </a:r>
          </a:p>
          <a:p xmlns:a="http://schemas.openxmlformats.org/drawingml/2006/main">
            <a:pPr>
              <a:defRPr sz="1800" b="0">
                <a:solidFill>
                  <a:srgbClr val="172535"/>
                </a:solidFill>
                <a:latin typeface="DejaVu Sans"/>
                <a:ea typeface="DejaVu Sans"/>
                <a:cs typeface="DejaVu Sans"/>
              </a:defRPr>
            </a:pPr>
            <a:r>
              <a:rPr sz="1800" b="0">
                <a:solidFill>
                  <a:srgbClr val="172535"/>
                </a:solidFill>
                <a:latin typeface="DejaVu Sans"/>
                <a:ea typeface="DejaVu Sans"/>
                <a:cs typeface="DejaVu Sans"/>
              </a:rPr>
              <a:t>Исходник можно скачать до обработки</a:t>
            </a:r>
          </a:p>
        </p:txBody>
      </p:sp>
      <p:sp>
        <p:nvSpPr>
          <p:cNvPr id="10" name="">
            <a:extLst xmlns:a="http://schemas.openxmlformats.org/drawingml/2006/main">
              <a:ext uri="{FF2B5EF4-FFF2-40B4-BE49-F238E27FC236}">
                <a16:creationId xmlns:a16="http://schemas.microsoft.com/office/drawing/2014/main" id="{8910964E-0CBA-4AA2-80C9-0B4FF7BB6A09}"/>
              </a:ext>
            </a:extLst>
          </p:cNvPr>
          <p:cNvSpPr>
            <a:spLocks xmlns:a="http://schemas.openxmlformats.org/drawingml/2006/main" noGrp="1"/>
          </p:cNvSpPr>
          <p:nvPr/>
        </p:nvSpPr>
        <p:spPr>
          <a:xfrm xmlns:a="http://schemas.openxmlformats.org/drawingml/2006/main">
            <a:off x="6638925" y="561022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535"/>
                </a:solidFill>
                <a:latin typeface="DejaVu Sans"/>
                <a:ea typeface="DejaVu Sans"/>
                <a:cs typeface="DejaVu Sans"/>
              </a:defRPr>
            </a:pPr>
            <a:r>
              <a:rPr sz="1800" b="0">
                <a:solidFill>
                  <a:srgbClr val="172535"/>
                </a:solidFill>
                <a:latin typeface="DejaVu Sans"/>
                <a:ea typeface="DejaVu Sans"/>
                <a:cs typeface="DejaVu Sans"/>
              </a:rPr>
              <a:t>Удаление фона на CPU</a:t>
            </a:r>
          </a:p>
          <a:p xmlns:a="http://schemas.openxmlformats.org/drawingml/2006/main">
            <a:pPr>
              <a:defRPr sz="1800" b="0">
                <a:solidFill>
                  <a:srgbClr val="172535"/>
                </a:solidFill>
                <a:latin typeface="DejaVu Sans"/>
                <a:ea typeface="DejaVu Sans"/>
                <a:cs typeface="DejaVu Sans"/>
              </a:defRPr>
            </a:pPr>
            <a:r>
              <a:rPr sz="1800" b="0">
                <a:solidFill>
                  <a:srgbClr val="172535"/>
                </a:solidFill>
                <a:latin typeface="DejaVu Sans"/>
                <a:ea typeface="DejaVu Sans"/>
                <a:cs typeface="DejaVu Sans"/>
              </a:rPr>
              <a:t>Светлые части объекта иногда теряются</a:t>
            </a:r>
          </a:p>
        </p:txBody>
      </p:sp>
    </p:spTree>
    <p:extLst>
      <p:ext uri="{BB962C8B-B14F-4D97-AF65-F5344CB8AC3E}">
        <p14:creationId xmlns:p14="http://schemas.microsoft.com/office/powerpoint/2010/main" val="2144083293"/>
      </p:ext>
    </p:extLst>
  </p:cSld>
</p:sld>
</file>

<file path=ppt/slides/slide12.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A0B28E-058F-4C09-9F90-00322A40D1D9}"/>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Демонстрация и следующие шаги</a:t>
            </a:r>
          </a:p>
        </p:txBody>
      </p:sp>
      <p:sp>
        <p:nvSpPr>
          <p:cNvPr id="2" name="">
            <a:extLst xmlns:a="http://schemas.openxmlformats.org/drawingml/2006/main">
              <a:ext uri="{FF2B5EF4-FFF2-40B4-BE49-F238E27FC236}">
                <a16:creationId xmlns:a16="http://schemas.microsoft.com/office/drawing/2014/main" id="{BABD3A3A-8044-47A3-B73E-774C14C955E9}"/>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EEB2A516-3E28-4294-B302-9865A257A47F}"/>
              </a:ext>
            </a:extLst>
          </p:cNvPr>
          <p:cNvSpPr>
            <a:spLocks xmlns:a="http://schemas.openxmlformats.org/drawingml/2006/main" noGrp="1"/>
          </p:cNvSpPr>
          <p:nvPr/>
        </p:nvSpPr>
        <p:spPr>
          <a:xfrm xmlns:a="http://schemas.openxmlformats.org/drawingml/2006/main">
            <a:off x="609600" y="1695450"/>
            <a:ext cx="105727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72535"/>
                </a:solidFill>
                <a:latin typeface="DejaVu Sans"/>
                <a:ea typeface="DejaVu Sans"/>
                <a:cs typeface="DejaVu Sans"/>
              </a:defRPr>
            </a:pPr>
            <a:r>
              <a:rPr sz="2550" b="1">
                <a:solidFill>
                  <a:srgbClr val="172535"/>
                </a:solidFill>
                <a:latin typeface="DejaVu Sans"/>
                <a:ea typeface="DejaVu Sans"/>
                <a:cs typeface="DejaVu Sans"/>
              </a:rPr>
              <a:t>Поиск по русскому запросу</a:t>
            </a:r>
          </a:p>
          <a:p xmlns:a="http://schemas.openxmlformats.org/drawingml/2006/main">
            <a:pPr>
              <a:defRPr sz="2550" b="1">
                <a:solidFill>
                  <a:srgbClr val="172535"/>
                </a:solidFill>
                <a:latin typeface="DejaVu Sans"/>
                <a:ea typeface="DejaVu Sans"/>
                <a:cs typeface="DejaVu Sans"/>
              </a:defRPr>
            </a:pPr>
            <a:r>
              <a:rPr sz="2550" b="1">
                <a:solidFill>
                  <a:srgbClr val="172535"/>
                </a:solidFill>
                <a:latin typeface="DejaVu Sans"/>
                <a:ea typeface="DejaVu Sans"/>
                <a:cs typeface="DejaVu Sans"/>
              </a:rPr>
              <a:t>Фильтр открыток и режим OCR</a:t>
            </a:r>
          </a:p>
          <a:p xmlns:a="http://schemas.openxmlformats.org/drawingml/2006/main">
            <a:pPr>
              <a:defRPr sz="2550" b="1">
                <a:solidFill>
                  <a:srgbClr val="172535"/>
                </a:solidFill>
                <a:latin typeface="DejaVu Sans"/>
                <a:ea typeface="DejaVu Sans"/>
                <a:cs typeface="DejaVu Sans"/>
              </a:defRPr>
            </a:pPr>
            <a:r>
              <a:rPr sz="2550" b="1">
                <a:solidFill>
                  <a:srgbClr val="172535"/>
                </a:solidFill>
                <a:latin typeface="DejaVu Sans"/>
                <a:ea typeface="DejaVu Sans"/>
                <a:cs typeface="DejaVu Sans"/>
              </a:rPr>
              <a:t>Генерация, затем удаление фона</a:t>
            </a:r>
          </a:p>
        </p:txBody>
      </p:sp>
      <p:sp>
        <p:nvSpPr>
          <p:cNvPr id="4" name="">
            <a:extLst xmlns:a="http://schemas.openxmlformats.org/drawingml/2006/main">
              <a:ext uri="{FF2B5EF4-FFF2-40B4-BE49-F238E27FC236}">
                <a16:creationId xmlns:a16="http://schemas.microsoft.com/office/drawing/2014/main" id="{7FCAAFA1-480D-4B1E-960E-815DE030DBFE}"/>
              </a:ext>
            </a:extLst>
          </p:cNvPr>
          <p:cNvSpPr>
            <a:spLocks xmlns:a="http://schemas.openxmlformats.org/drawingml/2006/main" noGrp="1"/>
          </p:cNvSpPr>
          <p:nvPr/>
        </p:nvSpPr>
        <p:spPr>
          <a:xfrm xmlns:a="http://schemas.openxmlformats.org/drawingml/2006/main">
            <a:off x="609600" y="3848100"/>
            <a:ext cx="5219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6F4AD1"/>
                </a:solidFill>
                <a:latin typeface="DejaVu Sans"/>
                <a:ea typeface="DejaVu Sans"/>
                <a:cs typeface="DejaVu Sans"/>
              </a:defRPr>
            </a:pPr>
            <a:r>
              <a:rPr sz="2250" b="1">
                <a:solidFill>
                  <a:srgbClr val="6F4AD1"/>
                </a:solidFill>
                <a:latin typeface="DejaVu Sans"/>
                <a:ea typeface="DejaVu Sans"/>
                <a:cs typeface="DejaVu Sans"/>
              </a:rPr>
              <a:t>Что уже подтверждено</a:t>
            </a:r>
          </a:p>
        </p:txBody>
      </p:sp>
      <p:sp>
        <p:nvSpPr>
          <p:cNvPr id="5" name="">
            <a:extLst xmlns:a="http://schemas.openxmlformats.org/drawingml/2006/main">
              <a:ext uri="{FF2B5EF4-FFF2-40B4-BE49-F238E27FC236}">
                <a16:creationId xmlns:a16="http://schemas.microsoft.com/office/drawing/2014/main" id="{9674525C-1904-4895-88D0-570FA6EE8DE4}"/>
              </a:ext>
            </a:extLst>
          </p:cNvPr>
          <p:cNvSpPr>
            <a:spLocks xmlns:a="http://schemas.openxmlformats.org/drawingml/2006/main" noGrp="1"/>
          </p:cNvSpPr>
          <p:nvPr/>
        </p:nvSpPr>
        <p:spPr>
          <a:xfrm xmlns:a="http://schemas.openxmlformats.org/drawingml/2006/main">
            <a:off x="609600" y="4543425"/>
            <a:ext cx="5172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Дообучение улучшило поиск</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на обоих языках тестового набора</a:t>
            </a:r>
          </a:p>
        </p:txBody>
      </p:sp>
      <p:sp>
        <p:nvSpPr>
          <p:cNvPr id="6" name="">
            <a:extLst xmlns:a="http://schemas.openxmlformats.org/drawingml/2006/main">
              <a:ext uri="{FF2B5EF4-FFF2-40B4-BE49-F238E27FC236}">
                <a16:creationId xmlns:a16="http://schemas.microsoft.com/office/drawing/2014/main" id="{A80E2D47-D221-4415-88BC-1568279CA1C2}"/>
              </a:ext>
            </a:extLst>
          </p:cNvPr>
          <p:cNvSpPr>
            <a:spLocks xmlns:a="http://schemas.openxmlformats.org/drawingml/2006/main" noGrp="1"/>
          </p:cNvSpPr>
          <p:nvPr/>
        </p:nvSpPr>
        <p:spPr>
          <a:xfrm xmlns:a="http://schemas.openxmlformats.org/drawingml/2006/main">
            <a:off x="6591300" y="38481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17B8C"/>
                </a:solidFill>
                <a:latin typeface="DejaVu Sans"/>
                <a:ea typeface="DejaVu Sans"/>
                <a:cs typeface="DejaVu Sans"/>
              </a:defRPr>
            </a:pPr>
            <a:r>
              <a:rPr sz="2250" b="1">
                <a:solidFill>
                  <a:srgbClr val="217B8C"/>
                </a:solidFill>
                <a:latin typeface="DejaVu Sans"/>
                <a:ea typeface="DejaVu Sans"/>
                <a:cs typeface="DejaVu Sans"/>
              </a:rPr>
              <a:t>Что проверять дальше</a:t>
            </a:r>
          </a:p>
        </p:txBody>
      </p:sp>
      <p:sp>
        <p:nvSpPr>
          <p:cNvPr id="7" name="">
            <a:extLst xmlns:a="http://schemas.openxmlformats.org/drawingml/2006/main">
              <a:ext uri="{FF2B5EF4-FFF2-40B4-BE49-F238E27FC236}">
                <a16:creationId xmlns:a16="http://schemas.microsoft.com/office/drawing/2014/main" id="{2B01403B-A2DA-4825-9C10-F9366B3BFDB8}"/>
              </a:ext>
            </a:extLst>
          </p:cNvPr>
          <p:cNvSpPr>
            <a:spLocks xmlns:a="http://schemas.openxmlformats.org/drawingml/2006/main" noGrp="1"/>
          </p:cNvSpPr>
          <p:nvPr/>
        </p:nvSpPr>
        <p:spPr>
          <a:xfrm xmlns:a="http://schemas.openxmlformats.org/drawingml/2006/main">
            <a:off x="6591300" y="4543425"/>
            <a:ext cx="51530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Новые запросы с разметкой людей</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Качество открыток и OCR</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Задержку поиска и маски фона</a:t>
            </a:r>
          </a:p>
        </p:txBody>
      </p:sp>
    </p:spTree>
    <p:extLst>
      <p:ext uri="{BB962C8B-B14F-4D97-AF65-F5344CB8AC3E}">
        <p14:creationId xmlns:p14="http://schemas.microsoft.com/office/powerpoint/2010/main" val="2975651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1D38BC-5A20-49CE-9A96-9513792ACB8E}"/>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Сравнение с предыдущими подходами</a:t>
            </a:r>
          </a:p>
        </p:txBody>
      </p:sp>
      <p:sp>
        <p:nvSpPr>
          <p:cNvPr id="2" name="">
            <a:extLst xmlns:a="http://schemas.openxmlformats.org/drawingml/2006/main">
              <a:ext uri="{FF2B5EF4-FFF2-40B4-BE49-F238E27FC236}">
                <a16:creationId xmlns:a16="http://schemas.microsoft.com/office/drawing/2014/main" id="{21F8CBC5-91A0-4131-8F8A-C10712035B62}"/>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13</a:t>
            </a:r>
          </a:p>
        </p:txBody>
      </p:sp>
      <p:graphicFrame>
        <p:nvGraphicFramePr>
          <p:cNvPr id="8" name=""/>
          <p:cNvGraphicFramePr/>
          <p:nvPr/>
        </p:nvGraphicFramePr>
        <p:xfrm>
          <a:off xmlns:a="http://schemas.openxmlformats.org/drawingml/2006/main" x="609600" y="1552575"/>
          <a:ext xmlns:a="http://schemas.openxmlformats.org/drawingml/2006/main" cx="10934700" cy="3400425"/>
        </p:xfrm>
        <a:graphic xmlns:a="http://schemas.openxmlformats.org/drawingml/2006/main">
          <a:graphicData uri="http://schemas.openxmlformats.org/drawingml/2006/table">
            <a:tbl>
              <a:tblPr/>
              <a:tblGrid>
                <a:gridCol w="6248400"/>
                <a:gridCol w="2343150"/>
                <a:gridCol w="2343150"/>
              </a:tblGrid>
              <a:tr h="566738">
                <a:tc>
                  <a:txBody>
                    <a:bodyPr>
                      <a:noAutofit/>
                    </a:bodyPr>
                    <a:lstStyle/>
                    <a:p>
                      <a:r>
                        <a:rPr sz="1875" b="1">
                          <a:solidFill>
                            <a:srgbClr val="FFFFFF"/>
                          </a:solidFill>
                          <a:latin typeface="DejaVu Sans"/>
                          <a:ea typeface="DejaVu Sans"/>
                          <a:cs typeface="DejaVu Sans"/>
                        </a:rPr>
                        <a:t>Модель / метод</a:t>
                      </a:r>
                    </a:p>
                  </a:txBody>
                  <a:tcPr marL="91440" marR="91440" marT="45720" marB="45720">
                    <a:solidFill>
                      <a:srgbClr val="172535"/>
                    </a:solidFill>
                  </a:tcPr>
                </a:tc>
                <a:tc>
                  <a:txBody>
                    <a:bodyPr>
                      <a:noAutofit/>
                    </a:bodyPr>
                    <a:lstStyle/>
                    <a:p>
                      <a:r>
                        <a:rPr sz="1875" b="1">
                          <a:solidFill>
                            <a:srgbClr val="FFFFFF"/>
                          </a:solidFill>
                          <a:latin typeface="DejaVu Sans"/>
                          <a:ea typeface="DejaVu Sans"/>
                          <a:cs typeface="DejaVu Sans"/>
                        </a:rPr>
                        <a:t>NDCG@5 EN</a:t>
                      </a:r>
                    </a:p>
                  </a:txBody>
                  <a:tcPr marL="91440" marR="91440" marT="45720" marB="45720">
                    <a:solidFill>
                      <a:srgbClr val="172535"/>
                    </a:solidFill>
                  </a:tcPr>
                </a:tc>
                <a:tc>
                  <a:txBody>
                    <a:bodyPr>
                      <a:noAutofit/>
                    </a:bodyPr>
                    <a:lstStyle/>
                    <a:p>
                      <a:r>
                        <a:rPr sz="1875" b="1">
                          <a:solidFill>
                            <a:srgbClr val="FFFFFF"/>
                          </a:solidFill>
                          <a:latin typeface="DejaVu Sans"/>
                          <a:ea typeface="DejaVu Sans"/>
                          <a:cs typeface="DejaVu Sans"/>
                        </a:rPr>
                        <a:t>NDCG@5 RU</a:t>
                      </a:r>
                    </a:p>
                  </a:txBody>
                  <a:tcPr marL="91440" marR="91440" marT="45720" marB="45720">
                    <a:solidFill>
                      <a:srgbClr val="172535"/>
                    </a:solidFill>
                  </a:tcPr>
                </a:tc>
              </a:tr>
              <a:tr h="566738">
                <a:tc>
                  <a:txBody>
                    <a:bodyPr>
                      <a:noAutofit/>
                    </a:bodyPr>
                    <a:lstStyle/>
                    <a:p>
                      <a:r>
                        <a:rPr sz="1875" b="0">
                          <a:solidFill>
                            <a:srgbClr val="172535"/>
                          </a:solidFill>
                          <a:latin typeface="DejaVu Sans"/>
                          <a:ea typeface="DejaVu Sans"/>
                          <a:cs typeface="DejaVu Sans"/>
                        </a:rPr>
                        <a:t>CLIP, поиск по изображению</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0,0167</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0,0144</a:t>
                      </a:r>
                    </a:p>
                  </a:txBody>
                  <a:tcPr marL="91440" marR="91440" marT="45720" marB="45720">
                    <a:solidFill>
                      <a:srgbClr val="FFFFFF"/>
                    </a:solidFill>
                  </a:tcPr>
                </a:tc>
              </a:tr>
              <a:tr h="566738">
                <a:tc>
                  <a:txBody>
                    <a:bodyPr>
                      <a:noAutofit/>
                    </a:bodyPr>
                    <a:lstStyle/>
                    <a:p>
                      <a:r>
                        <a:rPr sz="1875" b="0">
                          <a:solidFill>
                            <a:srgbClr val="172535"/>
                          </a:solidFill>
                          <a:latin typeface="DejaVu Sans"/>
                          <a:ea typeface="DejaVu Sans"/>
                          <a:cs typeface="DejaVu Sans"/>
                        </a:rPr>
                        <a:t>CLIP, объединение рангов RRF</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0,0159</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0,0149</a:t>
                      </a:r>
                    </a:p>
                  </a:txBody>
                  <a:tcPr marL="91440" marR="91440" marT="45720" marB="45720">
                    <a:solidFill>
                      <a:srgbClr val="F3F4F7"/>
                    </a:solidFill>
                  </a:tcPr>
                </a:tc>
              </a:tr>
              <a:tr h="566738">
                <a:tc>
                  <a:txBody>
                    <a:bodyPr>
                      <a:noAutofit/>
                    </a:bodyPr>
                    <a:lstStyle/>
                    <a:p>
                      <a:r>
                        <a:rPr sz="1875" b="0">
                          <a:solidFill>
                            <a:srgbClr val="172535"/>
                          </a:solidFill>
                          <a:latin typeface="DejaVu Sans"/>
                          <a:ea typeface="DejaVu Sans"/>
                          <a:cs typeface="DejaVu Sans"/>
                        </a:rPr>
                        <a:t>CLIP, обученные адаптеры</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0,0211</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0,0080</a:t>
                      </a:r>
                    </a:p>
                  </a:txBody>
                  <a:tcPr marL="91440" marR="91440" marT="45720" marB="45720">
                    <a:solidFill>
                      <a:srgbClr val="FFFFFF"/>
                    </a:solidFill>
                  </a:tcPr>
                </a:tc>
              </a:tr>
              <a:tr h="566738">
                <a:tc>
                  <a:txBody>
                    <a:bodyPr>
                      <a:noAutofit/>
                    </a:bodyPr>
                    <a:lstStyle/>
                    <a:p>
                      <a:r>
                        <a:rPr sz="1875" b="0">
                          <a:solidFill>
                            <a:srgbClr val="172535"/>
                          </a:solidFill>
                          <a:latin typeface="DejaVu Sans"/>
                          <a:ea typeface="DejaVu Sans"/>
                          <a:cs typeface="DejaVu Sans"/>
                        </a:rPr>
                        <a:t>SigLIP 2, исходная</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0,0495</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0,0149</a:t>
                      </a:r>
                    </a:p>
                  </a:txBody>
                  <a:tcPr marL="91440" marR="91440" marT="45720" marB="45720">
                    <a:solidFill>
                      <a:srgbClr val="F3F4F7"/>
                    </a:solidFill>
                  </a:tcPr>
                </a:tc>
              </a:tr>
              <a:tr h="566738">
                <a:tc>
                  <a:txBody>
                    <a:bodyPr>
                      <a:noAutofit/>
                    </a:bodyPr>
                    <a:lstStyle/>
                    <a:p>
                      <a:r>
                        <a:rPr sz="1875" b="0">
                          <a:solidFill>
                            <a:srgbClr val="172535"/>
                          </a:solidFill>
                          <a:latin typeface="DejaVu Sans"/>
                          <a:ea typeface="DejaVu Sans"/>
                          <a:cs typeface="DejaVu Sans"/>
                        </a:rPr>
                        <a:t>SigLIP 2, полное дообучение</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0,0923</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0,0658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478B604-249C-4D88-8AF6-1953568FF05F}"/>
              </a:ext>
            </a:extLst>
          </p:cNvPr>
          <p:cNvSpPr>
            <a:spLocks xmlns:a="http://schemas.openxmlformats.org/drawingml/2006/main" noGrp="1"/>
          </p:cNvSpPr>
          <p:nvPr/>
        </p:nvSpPr>
        <p:spPr>
          <a:xfrm xmlns:a="http://schemas.openxmlformats.org/drawingml/2006/main">
            <a:off x="609600" y="530542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Сравнение исходной и дообученной SigLIP 2</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лучше отделяет эффект обучения от смены архитектуры</a:t>
            </a:r>
          </a:p>
        </p:txBody>
      </p:sp>
      <p:sp>
        <p:nvSpPr>
          <p:cNvPr id="5" name="">
            <a:extLst xmlns:a="http://schemas.openxmlformats.org/drawingml/2006/main">
              <a:ext uri="{FF2B5EF4-FFF2-40B4-BE49-F238E27FC236}">
                <a16:creationId xmlns:a16="http://schemas.microsoft.com/office/drawing/2014/main" id="{F72ADE43-4145-4731-9473-641A3300DD81}"/>
              </a:ext>
            </a:extLst>
          </p:cNvPr>
          <p:cNvSpPr>
            <a:spLocks xmlns:a="http://schemas.openxmlformats.org/drawingml/2006/main" noGrp="1"/>
          </p:cNvSpPr>
          <p:nvPr/>
        </p:nvSpPr>
        <p:spPr>
          <a:xfrm xmlns:a="http://schemas.openxmlformats.org/drawingml/2006/main">
            <a:off x="609600" y="6334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Резервный слайд. Для CLIP и SigLIP менялись также обучающие данные и число параметров.</a:t>
            </a:r>
          </a:p>
        </p:txBody>
      </p:sp>
    </p:spTree>
    <p:extLst>
      <p:ext uri="{BB962C8B-B14F-4D97-AF65-F5344CB8AC3E}">
        <p14:creationId xmlns:p14="http://schemas.microsoft.com/office/powerpoint/2010/main" val="18318487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E54F5D-D27F-4725-B056-87946A4E48A6}"/>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Лосс и веса обучающих пар</a:t>
            </a:r>
          </a:p>
        </p:txBody>
      </p:sp>
      <p:sp>
        <p:nvSpPr>
          <p:cNvPr id="2" name="">
            <a:extLst xmlns:a="http://schemas.openxmlformats.org/drawingml/2006/main">
              <a:ext uri="{FF2B5EF4-FFF2-40B4-BE49-F238E27FC236}">
                <a16:creationId xmlns:a16="http://schemas.microsoft.com/office/drawing/2014/main" id="{2CB0F9B2-E6A3-46D9-B4DD-E049DA0C8C00}"/>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0539B2D2-AC25-49B0-8FA3-61D46BCB7D01}"/>
              </a:ext>
            </a:extLst>
          </p:cNvPr>
          <p:cNvSpPr>
            <a:spLocks xmlns:a="http://schemas.openxmlformats.org/drawingml/2006/main" noGrp="1"/>
          </p:cNvSpPr>
          <p:nvPr/>
        </p:nvSpPr>
        <p:spPr>
          <a:xfrm xmlns:a="http://schemas.openxmlformats.org/drawingml/2006/main">
            <a:off x="609600" y="154305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6F4AD1"/>
                </a:solidFill>
                <a:latin typeface="DejaVu Sans"/>
                <a:ea typeface="DejaVu Sans"/>
                <a:cs typeface="DejaVu Sans"/>
              </a:defRPr>
            </a:pPr>
            <a:r>
              <a:rPr sz="2700" b="1">
                <a:solidFill>
                  <a:srgbClr val="6F4AD1"/>
                </a:solidFill>
                <a:latin typeface="DejaVu Sans"/>
                <a:ea typeface="DejaVu Sans"/>
                <a:cs typeface="DejaVu Sans"/>
              </a:rPr>
              <a:t>zᵢⱼ = scale · cos(textᵢ, imageⱼ) + bias</a:t>
            </a:r>
          </a:p>
        </p:txBody>
      </p:sp>
      <p:sp>
        <p:nvSpPr>
          <p:cNvPr id="4" name="">
            <a:extLst xmlns:a="http://schemas.openxmlformats.org/drawingml/2006/main">
              <a:ext uri="{FF2B5EF4-FFF2-40B4-BE49-F238E27FC236}">
                <a16:creationId xmlns:a16="http://schemas.microsoft.com/office/drawing/2014/main" id="{B72C723B-95D9-42DC-8E43-68DBFFDB9E0F}"/>
              </a:ext>
            </a:extLst>
          </p:cNvPr>
          <p:cNvSpPr>
            <a:spLocks xmlns:a="http://schemas.openxmlformats.org/drawingml/2006/main" noGrp="1"/>
          </p:cNvSpPr>
          <p:nvPr/>
        </p:nvSpPr>
        <p:spPr>
          <a:xfrm xmlns:a="http://schemas.openxmlformats.org/drawingml/2006/main">
            <a:off x="609600" y="2447925"/>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172535"/>
                </a:solidFill>
                <a:latin typeface="DejaVu Sans"/>
                <a:ea typeface="DejaVu Sans"/>
                <a:cs typeface="DejaVu Sans"/>
              </a:defRPr>
            </a:pPr>
            <a:r>
              <a:rPr sz="2400" b="0">
                <a:solidFill>
                  <a:srgbClr val="172535"/>
                </a:solidFill>
                <a:latin typeface="DejaVu Sans"/>
                <a:ea typeface="DejaVu Sans"/>
                <a:cs typeface="DejaVu Sans"/>
              </a:rPr>
              <a:t>Положительная пара: log(1 + exp(−zᵢⱼ))</a:t>
            </a:r>
          </a:p>
          <a:p xmlns:a="http://schemas.openxmlformats.org/drawingml/2006/main">
            <a:pPr>
              <a:defRPr sz="2400" b="0">
                <a:solidFill>
                  <a:srgbClr val="172535"/>
                </a:solidFill>
                <a:latin typeface="DejaVu Sans"/>
                <a:ea typeface="DejaVu Sans"/>
                <a:cs typeface="DejaVu Sans"/>
              </a:defRPr>
            </a:pPr>
            <a:r>
              <a:rPr sz="2400" b="0">
                <a:solidFill>
                  <a:srgbClr val="172535"/>
                </a:solidFill>
                <a:latin typeface="DejaVu Sans"/>
                <a:ea typeface="DejaVu Sans"/>
                <a:cs typeface="DejaVu Sans"/>
              </a:rPr>
              <a:t>Отрицательная пара: log(1 + exp(zᵢⱼ))</a:t>
            </a:r>
          </a:p>
        </p:txBody>
      </p:sp>
      <p:graphicFrame>
        <p:nvGraphicFramePr>
          <p:cNvPr id="12" name=""/>
          <p:cNvGraphicFramePr/>
          <p:nvPr/>
        </p:nvGraphicFramePr>
        <p:xfrm>
          <a:off xmlns:a="http://schemas.openxmlformats.org/drawingml/2006/main" x="609600" y="3876675"/>
          <a:ext xmlns:a="http://schemas.openxmlformats.org/drawingml/2006/main" cx="7315200" cy="2095500"/>
        </p:xfrm>
        <a:graphic xmlns:a="http://schemas.openxmlformats.org/drawingml/2006/main">
          <a:graphicData uri="http://schemas.openxmlformats.org/drawingml/2006/table">
            <a:tbl>
              <a:tblPr/>
              <a:tblGrid>
                <a:gridCol w="5895975"/>
                <a:gridCol w="1419225"/>
              </a:tblGrid>
              <a:tr h="523875">
                <a:tc>
                  <a:txBody>
                    <a:bodyPr>
                      <a:noAutofit/>
                    </a:bodyPr>
                    <a:lstStyle/>
                    <a:p>
                      <a:r>
                        <a:rPr sz="1875" b="1">
                          <a:solidFill>
                            <a:srgbClr val="FFFFFF"/>
                          </a:solidFill>
                          <a:latin typeface="DejaVu Sans"/>
                          <a:ea typeface="DejaVu Sans"/>
                          <a:cs typeface="DejaVu Sans"/>
                        </a:rPr>
                        <a:t>Источник обучающей пары</a:t>
                      </a:r>
                    </a:p>
                  </a:txBody>
                  <a:tcPr marL="91440" marR="91440" marT="45720" marB="45720">
                    <a:solidFill>
                      <a:srgbClr val="172535"/>
                    </a:solidFill>
                  </a:tcPr>
                </a:tc>
                <a:tc>
                  <a:txBody>
                    <a:bodyPr>
                      <a:noAutofit/>
                    </a:bodyPr>
                    <a:lstStyle/>
                    <a:p>
                      <a:r>
                        <a:rPr sz="1875" b="1">
                          <a:solidFill>
                            <a:srgbClr val="FFFFFF"/>
                          </a:solidFill>
                          <a:latin typeface="DejaVu Sans"/>
                          <a:ea typeface="DejaVu Sans"/>
                          <a:cs typeface="DejaVu Sans"/>
                        </a:rPr>
                        <a:t>Вес</a:t>
                      </a:r>
                    </a:p>
                  </a:txBody>
                  <a:tcPr marL="91440" marR="91440" marT="45720" marB="45720">
                    <a:solidFill>
                      <a:srgbClr val="172535"/>
                    </a:solidFill>
                  </a:tcPr>
                </a:tc>
              </a:tr>
              <a:tr h="523875">
                <a:tc>
                  <a:txBody>
                    <a:bodyPr>
                      <a:noAutofit/>
                    </a:bodyPr>
                    <a:lstStyle/>
                    <a:p>
                      <a:r>
                        <a:rPr sz="1875" b="0">
                          <a:solidFill>
                            <a:srgbClr val="172535"/>
                          </a:solidFill>
                          <a:latin typeface="DejaVu Sans"/>
                          <a:ea typeface="DejaVu Sans"/>
                          <a:cs typeface="DejaVu Sans"/>
                        </a:rPr>
                        <a:t>Запрос человека</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1,0</a:t>
                      </a:r>
                    </a:p>
                  </a:txBody>
                  <a:tcPr marL="91440" marR="91440" marT="45720" marB="45720">
                    <a:solidFill>
                      <a:srgbClr val="FFFFFF"/>
                    </a:solidFill>
                  </a:tcPr>
                </a:tc>
              </a:tr>
              <a:tr h="523875">
                <a:tc>
                  <a:txBody>
                    <a:bodyPr>
                      <a:noAutofit/>
                    </a:bodyPr>
                    <a:lstStyle/>
                    <a:p>
                      <a:r>
                        <a:rPr sz="1875" b="0">
                          <a:solidFill>
                            <a:srgbClr val="172535"/>
                          </a:solidFill>
                          <a:latin typeface="DejaVu Sans"/>
                          <a:ea typeface="DejaVu Sans"/>
                          <a:cs typeface="DejaVu Sans"/>
                        </a:rPr>
                        <a:t>Перевод запроса на русский</a:t>
                      </a:r>
                    </a:p>
                  </a:txBody>
                  <a:tcPr marL="91440" marR="91440" marT="45720" marB="45720">
                    <a:solidFill>
                      <a:srgbClr val="F3F4F7"/>
                    </a:solidFill>
                  </a:tcPr>
                </a:tc>
                <a:tc>
                  <a:txBody>
                    <a:bodyPr>
                      <a:noAutofit/>
                    </a:bodyPr>
                    <a:lstStyle/>
                    <a:p>
                      <a:r>
                        <a:rPr sz="1875" b="0">
                          <a:solidFill>
                            <a:srgbClr val="172535"/>
                          </a:solidFill>
                          <a:latin typeface="DejaVu Sans"/>
                          <a:ea typeface="DejaVu Sans"/>
                          <a:cs typeface="DejaVu Sans"/>
                        </a:rPr>
                        <a:t>0,7</a:t>
                      </a:r>
                    </a:p>
                  </a:txBody>
                  <a:tcPr marL="91440" marR="91440" marT="45720" marB="45720">
                    <a:solidFill>
                      <a:srgbClr val="F3F4F7"/>
                    </a:solidFill>
                  </a:tcPr>
                </a:tc>
              </a:tr>
              <a:tr h="523875">
                <a:tc>
                  <a:txBody>
                    <a:bodyPr>
                      <a:noAutofit/>
                    </a:bodyPr>
                    <a:lstStyle/>
                    <a:p>
                      <a:r>
                        <a:rPr sz="1875" b="0">
                          <a:solidFill>
                            <a:srgbClr val="172535"/>
                          </a:solidFill>
                          <a:latin typeface="DejaVu Sans"/>
                          <a:ea typeface="DejaVu Sans"/>
                          <a:cs typeface="DejaVu Sans"/>
                        </a:rPr>
                        <a:t>Автоматическое визуальное описание</a:t>
                      </a:r>
                    </a:p>
                  </a:txBody>
                  <a:tcPr marL="91440" marR="91440" marT="45720" marB="45720">
                    <a:solidFill>
                      <a:srgbClr val="FFFFFF"/>
                    </a:solidFill>
                  </a:tcPr>
                </a:tc>
                <a:tc>
                  <a:txBody>
                    <a:bodyPr>
                      <a:noAutofit/>
                    </a:bodyPr>
                    <a:lstStyle/>
                    <a:p>
                      <a:r>
                        <a:rPr sz="1875" b="0">
                          <a:solidFill>
                            <a:srgbClr val="172535"/>
                          </a:solidFill>
                          <a:latin typeface="DejaVu Sans"/>
                          <a:ea typeface="DejaVu Sans"/>
                          <a:cs typeface="DejaVu Sans"/>
                        </a:rPr>
                        <a:t>0,5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8A069CB-5A61-4362-B241-95D41EA0C0E7}"/>
              </a:ext>
            </a:extLst>
          </p:cNvPr>
          <p:cNvSpPr>
            <a:spLocks xmlns:a="http://schemas.openxmlformats.org/drawingml/2006/main" noGrp="1"/>
          </p:cNvSpPr>
          <p:nvPr/>
        </p:nvSpPr>
        <p:spPr>
          <a:xfrm xmlns:a="http://schemas.openxmlformats.org/drawingml/2006/main">
            <a:off x="8372475" y="3962400"/>
            <a:ext cx="3209925"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535"/>
                </a:solidFill>
                <a:latin typeface="DejaVu Sans"/>
                <a:ea typeface="DejaVu Sans"/>
                <a:cs typeface="DejaVu Sans"/>
              </a:defRPr>
            </a:pPr>
            <a:r>
              <a:rPr sz="1875" b="0">
                <a:solidFill>
                  <a:srgbClr val="172535"/>
                </a:solidFill>
                <a:latin typeface="DejaVu Sans"/>
                <a:ea typeface="DejaVu Sans"/>
                <a:cs typeface="DejaVu Sans"/>
              </a:rPr>
              <a:t>Несколько известных</a:t>
            </a:r>
          </a:p>
          <a:p xmlns:a="http://schemas.openxmlformats.org/drawingml/2006/main">
            <a:pPr>
              <a:defRPr sz="1875" b="0">
                <a:solidFill>
                  <a:srgbClr val="172535"/>
                </a:solidFill>
                <a:latin typeface="DejaVu Sans"/>
                <a:ea typeface="DejaVu Sans"/>
                <a:cs typeface="DejaVu Sans"/>
              </a:defRPr>
            </a:pPr>
            <a:r>
              <a:rPr sz="1875" b="0">
                <a:solidFill>
                  <a:srgbClr val="172535"/>
                </a:solidFill>
                <a:latin typeface="DejaVu Sans"/>
                <a:ea typeface="DejaVu Sans"/>
                <a:cs typeface="DejaVu Sans"/>
              </a:rPr>
              <a:t>положительных целей</a:t>
            </a:r>
          </a:p>
          <a:p xmlns:a="http://schemas.openxmlformats.org/drawingml/2006/main">
            <a:r>
              <a:t/>
            </a:r>
          </a:p>
          <a:p xmlns:a="http://schemas.openxmlformats.org/drawingml/2006/main">
            <a:pPr>
              <a:defRPr sz="1875" b="0">
                <a:solidFill>
                  <a:srgbClr val="172535"/>
                </a:solidFill>
                <a:latin typeface="DejaVu Sans"/>
                <a:ea typeface="DejaVu Sans"/>
                <a:cs typeface="DejaVu Sans"/>
              </a:defRPr>
            </a:pPr>
            <a:r>
              <a:rPr sz="1875" b="0">
                <a:solidFill>
                  <a:srgbClr val="172535"/>
                </a:solidFill>
                <a:latin typeface="DejaVu Sans"/>
                <a:ea typeface="DejaVu Sans"/>
                <a:cs typeface="DejaVu Sans"/>
              </a:rPr>
              <a:t>Дубли картинок в батче</a:t>
            </a:r>
          </a:p>
          <a:p xmlns:a="http://schemas.openxmlformats.org/drawingml/2006/main">
            <a:pPr>
              <a:defRPr sz="1875" b="0">
                <a:solidFill>
                  <a:srgbClr val="172535"/>
                </a:solidFill>
                <a:latin typeface="DejaVu Sans"/>
                <a:ea typeface="DejaVu Sans"/>
                <a:cs typeface="DejaVu Sans"/>
              </a:defRPr>
            </a:pPr>
            <a:r>
              <a:rPr sz="1875" b="0">
                <a:solidFill>
                  <a:srgbClr val="172535"/>
                </a:solidFill>
                <a:latin typeface="DejaVu Sans"/>
                <a:ea typeface="DejaVu Sans"/>
                <a:cs typeface="DejaVu Sans"/>
              </a:rPr>
              <a:t>делят вес столбца</a:t>
            </a:r>
          </a:p>
        </p:txBody>
      </p:sp>
      <p:sp>
        <p:nvSpPr>
          <p:cNvPr id="7" name="">
            <a:extLst xmlns:a="http://schemas.openxmlformats.org/drawingml/2006/main">
              <a:ext uri="{FF2B5EF4-FFF2-40B4-BE49-F238E27FC236}">
                <a16:creationId xmlns:a16="http://schemas.microsoft.com/office/drawing/2014/main" id="{ED00098C-6B73-4737-81FD-F884B7FD10DE}"/>
              </a:ext>
            </a:extLst>
          </p:cNvPr>
          <p:cNvSpPr>
            <a:spLocks xmlns:a="http://schemas.openxmlformats.org/drawingml/2006/main" noGrp="1"/>
          </p:cNvSpPr>
          <p:nvPr/>
        </p:nvSpPr>
        <p:spPr>
          <a:xfrm xmlns:a="http://schemas.openxmlformats.org/drawingml/2006/main">
            <a:off x="609600" y="6334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Веса фиксированы. Их оптимальность отдельной абляцией не проверена.</a:t>
            </a:r>
          </a:p>
        </p:txBody>
      </p:sp>
    </p:spTree>
    <p:extLst>
      <p:ext uri="{BB962C8B-B14F-4D97-AF65-F5344CB8AC3E}">
        <p14:creationId xmlns:p14="http://schemas.microsoft.com/office/powerpoint/2010/main" val="17782559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55D813-91F4-4550-A345-2C1FDBE3BD77}"/>
              </a:ext>
            </a:extLst>
          </p:cNvPr>
          <p:cNvSpPr>
            <a:spLocks xmlns:a="http://schemas.openxmlformats.org/drawingml/2006/main" noGrp="1"/>
          </p:cNvSpPr>
          <p:nvPr/>
        </p:nvSpPr>
        <p:spPr>
          <a:xfrm xmlns:a="http://schemas.openxmlformats.org/drawingml/2006/main">
            <a:off x="609600" y="419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535"/>
                </a:solidFill>
                <a:latin typeface="DejaVu Sans"/>
                <a:ea typeface="DejaVu Sans"/>
                <a:cs typeface="DejaVu Sans"/>
              </a:defRPr>
            </a:pPr>
            <a:r>
              <a:rPr sz="3300" b="1">
                <a:solidFill>
                  <a:srgbClr val="172535"/>
                </a:solidFill>
                <a:latin typeface="DejaVu Sans"/>
                <a:ea typeface="DejaVu Sans"/>
                <a:cs typeface="DejaVu Sans"/>
              </a:rPr>
              <a:t>Источники и воспроизводимость</a:t>
            </a:r>
          </a:p>
        </p:txBody>
      </p:sp>
      <p:sp>
        <p:nvSpPr>
          <p:cNvPr id="2" name="">
            <a:extLst xmlns:a="http://schemas.openxmlformats.org/drawingml/2006/main">
              <a:ext uri="{FF2B5EF4-FFF2-40B4-BE49-F238E27FC236}">
                <a16:creationId xmlns:a16="http://schemas.microsoft.com/office/drawing/2014/main" id="{7F15FA93-F19A-4ABB-A336-7A16CEEA62FC}"/>
              </a:ext>
            </a:extLst>
          </p:cNvPr>
          <p:cNvSpPr>
            <a:spLocks xmlns:a="http://schemas.openxmlformats.org/drawingml/2006/main" noGrp="1"/>
          </p:cNvSpPr>
          <p:nvPr/>
        </p:nvSpPr>
        <p:spPr>
          <a:xfrm xmlns:a="http://schemas.openxmlformats.org/drawingml/2006/main">
            <a:off x="11258550" y="63246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46273"/>
                </a:solidFill>
                <a:latin typeface="DejaVu Sans"/>
                <a:ea typeface="DejaVu Sans"/>
                <a:cs typeface="DejaVu Sans"/>
              </a:defRPr>
            </a:pPr>
            <a:r>
              <a:rPr sz="1275" b="0">
                <a:solidFill>
                  <a:srgbClr val="546273"/>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D06437A4-3FBD-41FC-A582-F8D27768DC08}"/>
              </a:ext>
            </a:extLst>
          </p:cNvPr>
          <p:cNvSpPr>
            <a:spLocks xmlns:a="http://schemas.openxmlformats.org/drawingml/2006/main" noGrp="1"/>
          </p:cNvSpPr>
          <p:nvPr/>
        </p:nvSpPr>
        <p:spPr>
          <a:xfrm xmlns:a="http://schemas.openxmlformats.org/drawingml/2006/main">
            <a:off x="609600" y="1619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6F4AD1"/>
                </a:solidFill>
                <a:latin typeface="DejaVu Sans"/>
                <a:ea typeface="DejaVu Sans"/>
                <a:cs typeface="DejaVu Sans"/>
              </a:defRPr>
            </a:pPr>
            <a:r>
              <a:rPr sz="2400" b="1">
                <a:solidFill>
                  <a:srgbClr val="6F4AD1"/>
                </a:solidFill>
                <a:latin typeface="DejaVu Sans"/>
                <a:ea typeface="DejaVu Sans"/>
                <a:cs typeface="DejaVu Sans"/>
              </a:rPr>
              <a:t>Данные</a:t>
            </a:r>
          </a:p>
        </p:txBody>
      </p:sp>
      <p:sp>
        <p:nvSpPr>
          <p:cNvPr id="4" name="">
            <a:extLst xmlns:a="http://schemas.openxmlformats.org/drawingml/2006/main">
              <a:ext uri="{FF2B5EF4-FFF2-40B4-BE49-F238E27FC236}">
                <a16:creationId xmlns:a16="http://schemas.microsoft.com/office/drawing/2014/main" id="{CCAD34DF-AAF2-4100-8B9C-5FDF8F9B2617}"/>
              </a:ext>
            </a:extLst>
          </p:cNvPr>
          <p:cNvSpPr>
            <a:spLocks xmlns:a="http://schemas.openxmlformats.org/drawingml/2006/main" noGrp="1"/>
          </p:cNvSpPr>
          <p:nvPr/>
        </p:nvSpPr>
        <p:spPr>
          <a:xfrm xmlns:a="http://schemas.openxmlformats.org/drawingml/2006/main">
            <a:off x="609600" y="2333625"/>
            <a:ext cx="509587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nyuuzyou/stickers</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StickerQueries</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Synth-GCD</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OpenMoji</a:t>
            </a:r>
          </a:p>
        </p:txBody>
      </p:sp>
      <p:sp>
        <p:nvSpPr>
          <p:cNvPr id="5" name="">
            <a:extLst xmlns:a="http://schemas.openxmlformats.org/drawingml/2006/main">
              <a:ext uri="{FF2B5EF4-FFF2-40B4-BE49-F238E27FC236}">
                <a16:creationId xmlns:a16="http://schemas.microsoft.com/office/drawing/2014/main" id="{C0D15658-E004-468E-B0D4-CB38A43C3F5B}"/>
              </a:ext>
            </a:extLst>
          </p:cNvPr>
          <p:cNvSpPr>
            <a:spLocks xmlns:a="http://schemas.openxmlformats.org/drawingml/2006/main" noGrp="1"/>
          </p:cNvSpPr>
          <p:nvPr/>
        </p:nvSpPr>
        <p:spPr>
          <a:xfrm xmlns:a="http://schemas.openxmlformats.org/drawingml/2006/main">
            <a:off x="6619875" y="1619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217B8C"/>
                </a:solidFill>
                <a:latin typeface="DejaVu Sans"/>
                <a:ea typeface="DejaVu Sans"/>
                <a:cs typeface="DejaVu Sans"/>
              </a:defRPr>
            </a:pPr>
            <a:r>
              <a:rPr sz="2400" b="1">
                <a:solidFill>
                  <a:srgbClr val="217B8C"/>
                </a:solidFill>
                <a:latin typeface="DejaVu Sans"/>
                <a:ea typeface="DejaVu Sans"/>
                <a:cs typeface="DejaVu Sans"/>
              </a:rPr>
              <a:t>Модели и методы</a:t>
            </a:r>
          </a:p>
        </p:txBody>
      </p:sp>
      <p:sp>
        <p:nvSpPr>
          <p:cNvPr id="6" name="">
            <a:extLst xmlns:a="http://schemas.openxmlformats.org/drawingml/2006/main">
              <a:ext uri="{FF2B5EF4-FFF2-40B4-BE49-F238E27FC236}">
                <a16:creationId xmlns:a16="http://schemas.microsoft.com/office/drawing/2014/main" id="{3C6CF62A-4156-41D7-BCA2-8FBA8FF7CCD9}"/>
              </a:ext>
            </a:extLst>
          </p:cNvPr>
          <p:cNvSpPr>
            <a:spLocks xmlns:a="http://schemas.openxmlformats.org/drawingml/2006/main" noGrp="1"/>
          </p:cNvSpPr>
          <p:nvPr/>
        </p:nvSpPr>
        <p:spPr>
          <a:xfrm xmlns:a="http://schemas.openxmlformats.org/drawingml/2006/main">
            <a:off x="6619875" y="2333625"/>
            <a:ext cx="50482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SigLIP 2 и Sigmoid Loss</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Qwen2.5-VL и Qwen2.5-Instruct</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FLUX.1-schnell</a:t>
            </a:r>
          </a:p>
          <a:p xmlns:a="http://schemas.openxmlformats.org/drawingml/2006/main">
            <a:pPr>
              <a:defRPr sz="2175" b="0">
                <a:solidFill>
                  <a:srgbClr val="172535"/>
                </a:solidFill>
                <a:latin typeface="DejaVu Sans"/>
                <a:ea typeface="DejaVu Sans"/>
                <a:cs typeface="DejaVu Sans"/>
              </a:defRPr>
            </a:pPr>
            <a:r>
              <a:rPr sz="2175" b="0">
                <a:solidFill>
                  <a:srgbClr val="172535"/>
                </a:solidFill>
                <a:latin typeface="DejaVu Sans"/>
                <a:ea typeface="DejaVu Sans"/>
                <a:cs typeface="DejaVu Sans"/>
              </a:rPr>
              <a:t>rembg / U²-Net</a:t>
            </a:r>
          </a:p>
        </p:txBody>
      </p:sp>
      <p:sp>
        <p:nvSpPr>
          <p:cNvPr id="7" name="">
            <a:extLst xmlns:a="http://schemas.openxmlformats.org/drawingml/2006/main">
              <a:ext uri="{FF2B5EF4-FFF2-40B4-BE49-F238E27FC236}">
                <a16:creationId xmlns:a16="http://schemas.microsoft.com/office/drawing/2014/main" id="{5D61389E-BFC6-45C6-A0CD-6CC56AE3F492}"/>
              </a:ext>
            </a:extLst>
          </p:cNvPr>
          <p:cNvSpPr>
            <a:spLocks xmlns:a="http://schemas.openxmlformats.org/drawingml/2006/main" noGrp="1"/>
          </p:cNvSpPr>
          <p:nvPr/>
        </p:nvSpPr>
        <p:spPr>
          <a:xfrm xmlns:a="http://schemas.openxmlformats.org/drawingml/2006/main">
            <a:off x="609600" y="4857750"/>
            <a:ext cx="108870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Фиксируются seed, версии, ревизии моделей и хеши данных</a:t>
            </a:r>
          </a:p>
          <a:p xmlns:a="http://schemas.openxmlformats.org/drawingml/2006/main">
            <a:pPr>
              <a:defRPr sz="2100" b="0">
                <a:solidFill>
                  <a:srgbClr val="172535"/>
                </a:solidFill>
                <a:latin typeface="DejaVu Sans"/>
                <a:ea typeface="DejaVu Sans"/>
                <a:cs typeface="DejaVu Sans"/>
              </a:defRPr>
            </a:pPr>
            <a:r>
              <a:rPr sz="2100" b="0">
                <a:solidFill>
                  <a:srgbClr val="172535"/>
                </a:solidFill>
                <a:latin typeface="DejaVu Sans"/>
                <a:ea typeface="DejaVu Sans"/>
                <a:cs typeface="DejaVu Sans"/>
              </a:rPr>
              <a:t>Отдельные команды подготовки, обучения, оценки и демо</a:t>
            </a:r>
          </a:p>
        </p:txBody>
      </p:sp>
      <p:sp>
        <p:nvSpPr>
          <p:cNvPr id="8" name="">
            <a:extLst xmlns:a="http://schemas.openxmlformats.org/drawingml/2006/main">
              <a:ext uri="{FF2B5EF4-FFF2-40B4-BE49-F238E27FC236}">
                <a16:creationId xmlns:a16="http://schemas.microsoft.com/office/drawing/2014/main" id="{7745E845-D89B-487C-B8F2-3389189D3B1A}"/>
              </a:ext>
            </a:extLst>
          </p:cNvPr>
          <p:cNvSpPr>
            <a:spLocks xmlns:a="http://schemas.openxmlformats.org/drawingml/2006/main" noGrp="1"/>
          </p:cNvSpPr>
          <p:nvPr/>
        </p:nvSpPr>
        <p:spPr>
          <a:xfrm xmlns:a="http://schemas.openxmlformats.org/drawingml/2006/main">
            <a:off x="609600" y="6334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46273"/>
                </a:solidFill>
                <a:latin typeface="DejaVu Sans"/>
                <a:ea typeface="DejaVu Sans"/>
                <a:cs typeface="DejaVu Sans"/>
              </a:defRPr>
            </a:pPr>
            <a:r>
              <a:rPr sz="1425" b="0">
                <a:solidFill>
                  <a:srgbClr val="546273"/>
                </a:solidFill>
                <a:latin typeface="DejaVu Sans"/>
                <a:ea typeface="DejaVu Sans"/>
                <a:cs typeface="DejaVu Sans"/>
              </a:rPr>
              <a:t>Ссылки — в заметках слайда. Численные результаты — из сохранённых запусков.</a:t>
            </a:r>
          </a:p>
        </p:txBody>
      </p:sp>
    </p:spTree>
    <p:extLst>
      <p:ext uri="{BB962C8B-B14F-4D97-AF65-F5344CB8AC3E}">
        <p14:creationId xmlns:p14="http://schemas.microsoft.com/office/powerpoint/2010/main" val="2068679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2026-09-29T12:49:57.5340000Z</dcterms:created>
  <dcterms:modified xsi:type="dcterms:W3CDTF">2026-09-29T12:49:57.5340000Z</dcterms:modified>
</coreProperties>
</file>